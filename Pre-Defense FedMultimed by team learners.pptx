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9" r:id="rId1"/>
  </p:sldMasterIdLst>
  <p:notesMasterIdLst>
    <p:notesMasterId r:id="rId18"/>
  </p:notesMasterIdLst>
  <p:sldIdLst>
    <p:sldId id="256" r:id="rId2"/>
    <p:sldId id="264" r:id="rId3"/>
    <p:sldId id="280" r:id="rId4"/>
    <p:sldId id="293" r:id="rId5"/>
    <p:sldId id="296" r:id="rId6"/>
    <p:sldId id="294" r:id="rId7"/>
    <p:sldId id="297" r:id="rId8"/>
    <p:sldId id="301" r:id="rId9"/>
    <p:sldId id="302" r:id="rId10"/>
    <p:sldId id="303" r:id="rId11"/>
    <p:sldId id="304" r:id="rId12"/>
    <p:sldId id="298" r:id="rId13"/>
    <p:sldId id="300" r:id="rId14"/>
    <p:sldId id="291" r:id="rId15"/>
    <p:sldId id="299" r:id="rId16"/>
    <p:sldId id="295" r:id="rId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p:cViewPr varScale="1">
        <p:scale>
          <a:sx n="93" d="100"/>
          <a:sy n="93" d="100"/>
        </p:scale>
        <p:origin x="1218" y="5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Accuracy</c:v>
          </c:tx>
          <c:spPr>
            <a:solidFill>
              <a:srgbClr val="4F81BD"/>
            </a:solidFill>
          </c:spPr>
          <c:invertIfNegative val="1"/>
          <c:dLbls>
            <c:dLbl>
              <c:idx val="0"/>
              <c:tx>
                <c:rich>
                  <a:bodyPr/>
                  <a:lstStyle/>
                  <a:p>
                    <a:r>
                      <a:rPr lang="en-US"/>
                      <a:t>98.89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781-414B-B8F6-C0852FA54F60}"/>
                </c:ext>
              </c:extLst>
            </c:dLbl>
            <c:dLbl>
              <c:idx val="1"/>
              <c:tx>
                <c:rich>
                  <a:bodyPr/>
                  <a:lstStyle/>
                  <a:p>
                    <a:r>
                      <a:rPr lang="en-US"/>
                      <a:t>96.67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781-414B-B8F6-C0852FA54F60}"/>
                </c:ext>
              </c:extLst>
            </c:dLbl>
            <c:dLbl>
              <c:idx val="2"/>
              <c:tx>
                <c:rich>
                  <a:bodyPr/>
                  <a:lstStyle/>
                  <a:p>
                    <a:r>
                      <a:rPr lang="en-US"/>
                      <a:t>89.26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781-414B-B8F6-C0852FA54F60}"/>
                </c:ext>
              </c:extLst>
            </c:dLbl>
            <c:dLbl>
              <c:idx val="3"/>
              <c:tx>
                <c:rich>
                  <a:bodyPr/>
                  <a:lstStyle/>
                  <a:p>
                    <a:r>
                      <a:rPr lang="en-US"/>
                      <a:t>80.83</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781-414B-B8F6-C0852FA54F60}"/>
                </c:ext>
              </c:extLst>
            </c:dLbl>
            <c:spPr>
              <a:noFill/>
              <a:ln>
                <a:noFill/>
              </a:ln>
              <a:effectLst/>
            </c:spPr>
            <c:txPr>
              <a:bodyPr anchorCtr="1"/>
              <a:lstStyle/>
              <a:p>
                <a:pPr>
                  <a:defRPr sz="975" b="1">
                    <a:solidFill>
                      <a:srgbClr val="202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Ultrasound</c:v>
              </c:pt>
              <c:pt idx="1">
                <c:v>MRI</c:v>
              </c:pt>
              <c:pt idx="2">
                <c:v>X-ray</c:v>
              </c:pt>
              <c:pt idx="3">
                <c:v>Dermoscopy</c:v>
              </c:pt>
            </c:strLit>
          </c:cat>
          <c:val>
            <c:numLit>
              <c:formatCode>0</c:formatCode>
              <c:ptCount val="4"/>
              <c:pt idx="0">
                <c:v>98.89</c:v>
              </c:pt>
              <c:pt idx="1">
                <c:v>96.67</c:v>
              </c:pt>
              <c:pt idx="2">
                <c:v>89.26</c:v>
              </c:pt>
              <c:pt idx="3">
                <c:v>80.83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B781-414B-B8F6-C0852FA54F60}"/>
            </c:ext>
          </c:extLst>
        </c:ser>
        <c:ser>
          <c:idx val="1"/>
          <c:order val="1"/>
          <c:tx>
            <c:v>Macro F1</c:v>
          </c:tx>
          <c:spPr>
            <a:solidFill>
              <a:srgbClr val="7030A0"/>
            </a:solidFill>
          </c:spPr>
          <c:invertIfNegative val="1"/>
          <c:dLbls>
            <c:dLbl>
              <c:idx val="0"/>
              <c:tx>
                <c:rich>
                  <a:bodyPr/>
                  <a:lstStyle/>
                  <a:p>
                    <a:r>
                      <a:rPr lang="en-US"/>
                      <a:t>98.89</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781-414B-B8F6-C0852FA54F60}"/>
                </c:ext>
              </c:extLst>
            </c:dLbl>
            <c:dLbl>
              <c:idx val="1"/>
              <c:tx>
                <c:rich>
                  <a:bodyPr/>
                  <a:lstStyle/>
                  <a:p>
                    <a:r>
                      <a:rPr lang="en-US"/>
                      <a:t>96.69</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781-414B-B8F6-C0852FA54F60}"/>
                </c:ext>
              </c:extLst>
            </c:dLbl>
            <c:dLbl>
              <c:idx val="2"/>
              <c:tx>
                <c:rich>
                  <a:bodyPr/>
                  <a:lstStyle/>
                  <a:p>
                    <a:r>
                      <a:rPr lang="en-US"/>
                      <a:t>89.06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781-414B-B8F6-C0852FA54F60}"/>
                </c:ext>
              </c:extLst>
            </c:dLbl>
            <c:dLbl>
              <c:idx val="3"/>
              <c:tx>
                <c:rich>
                  <a:bodyPr/>
                  <a:lstStyle/>
                  <a:p>
                    <a:r>
                      <a:rPr lang="en-US"/>
                      <a:t>62.10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B781-414B-B8F6-C0852FA54F60}"/>
                </c:ext>
              </c:extLst>
            </c:dLbl>
            <c:spPr>
              <a:noFill/>
              <a:ln>
                <a:noFill/>
              </a:ln>
              <a:effectLst/>
            </c:spPr>
            <c:txPr>
              <a:bodyPr anchorCtr="1"/>
              <a:lstStyle/>
              <a:p>
                <a:pPr>
                  <a:defRPr sz="975" b="1">
                    <a:solidFill>
                      <a:srgbClr val="202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Ultrasound</c:v>
              </c:pt>
              <c:pt idx="1">
                <c:v>MRI</c:v>
              </c:pt>
              <c:pt idx="2">
                <c:v>X-ray</c:v>
              </c:pt>
              <c:pt idx="3">
                <c:v>Dermoscopy</c:v>
              </c:pt>
            </c:strLit>
          </c:cat>
          <c:val>
            <c:numLit>
              <c:formatCode>0</c:formatCode>
              <c:ptCount val="4"/>
              <c:pt idx="0">
                <c:v>98.89</c:v>
              </c:pt>
              <c:pt idx="1">
                <c:v>96.69</c:v>
              </c:pt>
              <c:pt idx="2">
                <c:v>89.06</c:v>
              </c:pt>
              <c:pt idx="3">
                <c:v>62.1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B781-414B-B8F6-C0852FA54F60}"/>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00">
                <a:solidFill>
                  <a:srgbClr val="202020"/>
                </a:solidFill>
              </a:defRPr>
            </a:pPr>
            <a:endParaRPr lang="en-US"/>
          </a:p>
        </c:txPr>
        <c:crossAx val="48672768"/>
        <c:crosses val="autoZero"/>
        <c:auto val="1"/>
        <c:lblAlgn val="ctr"/>
        <c:lblOffset val="100"/>
        <c:noMultiLvlLbl val="1"/>
      </c:catAx>
      <c:valAx>
        <c:axId val="48672768"/>
        <c:scaling>
          <c:orientation val="minMax"/>
          <c:max val="100"/>
          <c:min val="50"/>
        </c:scaling>
        <c:delete val="0"/>
        <c:axPos val="l"/>
        <c:majorGridlines>
          <c:spPr>
            <a:ln w="9525">
              <a:solidFill>
                <a:srgbClr val="D8DEE7"/>
              </a:solidFill>
              <a:prstDash val="solid"/>
            </a:ln>
          </c:spPr>
        </c:majorGridlines>
        <c:title>
          <c:tx>
            <c:rich>
              <a:bodyPr/>
              <a:lstStyle/>
              <a:p>
                <a:r>
                  <a:rPr lang="en-US"/>
                  <a:t>Score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050">
                <a:solidFill>
                  <a:srgbClr val="5B6573"/>
                </a:solidFill>
              </a:defRPr>
            </a:pPr>
            <a:endParaRPr lang="en-US"/>
          </a:p>
        </c:txPr>
        <c:crossAx val="48650112"/>
        <c:crosses val="autoZero"/>
        <c:crossBetween val="between"/>
        <c:majorUnit val="10"/>
      </c:valAx>
    </c:plotArea>
    <c:legend>
      <c:legendPos val="b"/>
      <c:overlay val="0"/>
      <c:txPr>
        <a:bodyPr anchorCtr="1"/>
        <a:lstStyle/>
        <a:p>
          <a:pPr>
            <a:defRPr sz="1400">
              <a:solidFill>
                <a:srgbClr val="202020"/>
              </a:solidFill>
            </a:defRPr>
          </a:pPr>
          <a:endParaRPr lang="en-U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9/8/2026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9/8/2026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9/8/2026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9/8/2026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9/8/2026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94FC854B-DA69-D945-D12F-E26A1AE09ED1}"/>
              </a:ext>
            </a:extLst>
          </p:cNvPr>
          <p:cNvSpPr>
            <a:spLocks noGrp="1"/>
          </p:cNvSpPr>
          <p:nvPr>
            <p:ph type="ctrTitle"/>
          </p:nvPr>
        </p:nvSpPr>
        <p:spPr>
          <a:xfrm>
            <a:off x="0" y="1138850"/>
            <a:ext cx="12268200" cy="1985350"/>
          </a:xfrm>
        </p:spPr>
        <p:txBody>
          <a:bodyPr rtlCol="0">
            <a:noAutofit/>
          </a:bodyPr>
          <a:lstStyle/>
          <a:p>
            <a:pPr fontAlgn="auto">
              <a:spcAft>
                <a:spcPts val="0"/>
              </a:spcAft>
              <a:defRPr/>
            </a:pPr>
            <a:r>
              <a:rPr lang="en-US" sz="3200" dirty="0" err="1">
                <a:solidFill>
                  <a:srgbClr val="7030A0"/>
                </a:solidFill>
              </a:rPr>
              <a:t>FedMultiMed</a:t>
            </a:r>
            <a:r>
              <a:rPr lang="en-US" sz="3200" dirty="0">
                <a:solidFill>
                  <a:srgbClr val="7030A0"/>
                </a:solidFill>
              </a:rPr>
              <a:t>: A Federated Multi-Modal Ensemble Framework </a:t>
            </a:r>
            <a:br>
              <a:rPr lang="en-US" sz="3200" dirty="0">
                <a:solidFill>
                  <a:srgbClr val="7030A0"/>
                </a:solidFill>
              </a:rPr>
            </a:br>
            <a:r>
              <a:rPr lang="en-US" sz="3200" dirty="0">
                <a:solidFill>
                  <a:srgbClr val="7030A0"/>
                </a:solidFill>
              </a:rPr>
              <a:t>for Medical Image Classification with Explainable AI</a:t>
            </a:r>
          </a:p>
        </p:txBody>
      </p:sp>
      <p:sp>
        <p:nvSpPr>
          <p:cNvPr id="9" name="Subtitle 4">
            <a:extLst>
              <a:ext uri="{FF2B5EF4-FFF2-40B4-BE49-F238E27FC236}">
                <a16:creationId xmlns:a16="http://schemas.microsoft.com/office/drawing/2014/main" id="{BE12EFE1-2F64-533E-886D-880B6882E738}"/>
              </a:ext>
            </a:extLst>
          </p:cNvPr>
          <p:cNvSpPr>
            <a:spLocks noGrp="1"/>
          </p:cNvSpPr>
          <p:nvPr>
            <p:ph type="subTitle" idx="1"/>
          </p:nvPr>
        </p:nvSpPr>
        <p:spPr>
          <a:xfrm>
            <a:off x="3695700" y="3973399"/>
            <a:ext cx="4800600" cy="2438400"/>
          </a:xfrm>
        </p:spPr>
        <p:txBody>
          <a:bodyPr rtlCol="0">
            <a:normAutofit fontScale="92500" lnSpcReduction="20000"/>
          </a:bodyPr>
          <a:lstStyle/>
          <a:p>
            <a:r>
              <a:rPr lang="en-US" sz="2400" b="1" dirty="0">
                <a:solidFill>
                  <a:schemeClr val="tx1"/>
                </a:solidFill>
                <a:latin typeface="Times New Roman" panose="02020603050405020304" pitchFamily="18" charset="0"/>
                <a:cs typeface="Times New Roman" panose="02020603050405020304" pitchFamily="18" charset="0"/>
              </a:rPr>
              <a:t>M </a:t>
            </a:r>
            <a:r>
              <a:rPr lang="en-US" sz="2400" b="1" dirty="0" err="1">
                <a:solidFill>
                  <a:schemeClr val="tx1"/>
                </a:solidFill>
                <a:latin typeface="Times New Roman" panose="02020603050405020304" pitchFamily="18" charset="0"/>
                <a:cs typeface="Times New Roman" panose="02020603050405020304" pitchFamily="18" charset="0"/>
              </a:rPr>
              <a:t>M</a:t>
            </a:r>
            <a:r>
              <a:rPr lang="en-US" sz="2400" b="1" dirty="0">
                <a:solidFill>
                  <a:schemeClr val="tx1"/>
                </a:solidFill>
                <a:latin typeface="Times New Roman" panose="02020603050405020304" pitchFamily="18" charset="0"/>
                <a:cs typeface="Times New Roman" panose="02020603050405020304" pitchFamily="18" charset="0"/>
              </a:rPr>
              <a:t> Tasnim Bin Hannan</a:t>
            </a:r>
          </a:p>
          <a:p>
            <a:r>
              <a:rPr lang="en-US" sz="2400" b="1" dirty="0">
                <a:solidFill>
                  <a:schemeClr val="tx1"/>
                </a:solidFill>
                <a:latin typeface="Times New Roman" panose="02020603050405020304" pitchFamily="18" charset="0"/>
                <a:cs typeface="Times New Roman" panose="02020603050405020304" pitchFamily="18" charset="0"/>
              </a:rPr>
              <a:t>ID : </a:t>
            </a:r>
            <a:r>
              <a:rPr lang="en-US" sz="2400" dirty="0">
                <a:solidFill>
                  <a:schemeClr val="tx1"/>
                </a:solidFill>
                <a:latin typeface="Times New Roman" panose="02020603050405020304" pitchFamily="18" charset="0"/>
                <a:cs typeface="Times New Roman" panose="02020603050405020304" pitchFamily="18" charset="0"/>
              </a:rPr>
              <a:t>0242220005101062</a:t>
            </a:r>
          </a:p>
          <a:p>
            <a:r>
              <a:rPr lang="en-US" sz="1600" dirty="0">
                <a:solidFill>
                  <a:srgbClr val="00B050"/>
                </a:solidFill>
                <a:latin typeface="Times New Roman" panose="02020603050405020304" pitchFamily="18" charset="0"/>
                <a:cs typeface="Times New Roman" panose="02020603050405020304" pitchFamily="18" charset="0"/>
              </a:rPr>
              <a:t>And</a:t>
            </a:r>
          </a:p>
          <a:p>
            <a:r>
              <a:rPr lang="en-US" sz="2400" b="1" dirty="0">
                <a:solidFill>
                  <a:schemeClr val="tx1"/>
                </a:solidFill>
                <a:latin typeface="Times New Roman" panose="02020603050405020304" pitchFamily="18" charset="0"/>
                <a:cs typeface="Times New Roman" panose="02020603050405020304" pitchFamily="18" charset="0"/>
              </a:rPr>
              <a:t>Joy Mojumder</a:t>
            </a:r>
          </a:p>
          <a:p>
            <a:r>
              <a:rPr lang="en-US" sz="2400" b="1" dirty="0">
                <a:solidFill>
                  <a:schemeClr val="tx1"/>
                </a:solidFill>
                <a:latin typeface="Times New Roman" panose="02020603050405020304" pitchFamily="18" charset="0"/>
                <a:cs typeface="Times New Roman" panose="02020603050405020304" pitchFamily="18" charset="0"/>
              </a:rPr>
              <a:t>ID : </a:t>
            </a:r>
            <a:r>
              <a:rPr lang="en-US" sz="2400" dirty="0">
                <a:solidFill>
                  <a:schemeClr val="tx1"/>
                </a:solidFill>
                <a:latin typeface="Times New Roman" panose="02020603050405020304" pitchFamily="18" charset="0"/>
                <a:cs typeface="Times New Roman" panose="02020603050405020304" pitchFamily="18" charset="0"/>
              </a:rPr>
              <a:t>0242220005101132</a:t>
            </a:r>
          </a:p>
          <a:p>
            <a:endParaRPr lang="en-US" sz="400" dirty="0">
              <a:solidFill>
                <a:schemeClr val="tx1"/>
              </a:solidFill>
              <a:latin typeface="Times New Roman" panose="02020603050405020304" pitchFamily="18" charset="0"/>
              <a:cs typeface="Times New Roman" panose="02020603050405020304" pitchFamily="18" charset="0"/>
            </a:endParaRPr>
          </a:p>
          <a:p>
            <a:r>
              <a:rPr lang="en-US" sz="2400" b="1" dirty="0">
                <a:solidFill>
                  <a:schemeClr val="tx1"/>
                </a:solidFill>
                <a:latin typeface="Times New Roman" panose="02020603050405020304" pitchFamily="18" charset="0"/>
                <a:cs typeface="Times New Roman" panose="02020603050405020304" pitchFamily="18" charset="0"/>
              </a:rPr>
              <a:t>Department of  </a:t>
            </a:r>
            <a:r>
              <a:rPr lang="en-US" sz="2400" dirty="0">
                <a:solidFill>
                  <a:schemeClr val="tx1"/>
                </a:solidFill>
                <a:latin typeface="Times New Roman" panose="02020603050405020304" pitchFamily="18" charset="0"/>
                <a:cs typeface="Times New Roman" panose="02020603050405020304" pitchFamily="18" charset="0"/>
              </a:rPr>
              <a:t>CSE</a:t>
            </a:r>
          </a:p>
          <a:p>
            <a:r>
              <a:rPr lang="en-US" sz="24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4" name="Slide Number Placeholder 3"/>
          <p:cNvSpPr>
            <a:spLocks noGrp="1"/>
          </p:cNvSpPr>
          <p:nvPr>
            <p:ph type="sldNum" sz="quarter" idx="16"/>
          </p:nvPr>
        </p:nvSpPr>
        <p:spPr>
          <a:xfrm>
            <a:off x="9194800" y="6035675"/>
            <a:ext cx="2844800" cy="365125"/>
          </a:xfrm>
        </p:spPr>
        <p:txBody>
          <a:bodyPr/>
          <a:lstStyle/>
          <a:p>
            <a:pPr>
              <a:defRPr/>
            </a:pPr>
            <a:fld id="{4CD333A3-7515-47B8-9EDC-EE0892D9C861}" type="slidenum">
              <a:rPr lang="en-US" smtClean="0"/>
              <a:pPr>
                <a:defRPr/>
              </a:pPr>
              <a:t>2</a:t>
            </a:fld>
            <a:endParaRPr lang="en-US"/>
          </a:p>
        </p:txBody>
      </p:sp>
      <p:sp>
        <p:nvSpPr>
          <p:cNvPr id="7" name="Content Placeholder 2">
            <a:extLst>
              <a:ext uri="{FF2B5EF4-FFF2-40B4-BE49-F238E27FC236}">
                <a16:creationId xmlns:a16="http://schemas.microsoft.com/office/drawing/2014/main" id="{D0C90952-3650-2C31-4A6D-EB5EE374A16C}"/>
              </a:ext>
            </a:extLst>
          </p:cNvPr>
          <p:cNvSpPr txBox="1">
            <a:spLocks/>
          </p:cNvSpPr>
          <p:nvPr/>
        </p:nvSpPr>
        <p:spPr>
          <a:xfrm>
            <a:off x="609600" y="1752600"/>
            <a:ext cx="10972800" cy="39624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Introduction</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Objective</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Background Study</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Gap Analysis</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Methodology</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Sample Dataset </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Results &amp; Analysis</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Novelty of the Work</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Conclusion</a:t>
            </a:r>
          </a:p>
          <a:p>
            <a:pPr fontAlgn="auto">
              <a:spcAft>
                <a:spcPts val="0"/>
              </a:spcAft>
              <a:buFont typeface="Wingdings" pitchFamily="2" charset="2"/>
              <a:buChar char="Ø"/>
            </a:pPr>
            <a:r>
              <a:rPr lang="en-US" sz="2200">
                <a:solidFill>
                  <a:schemeClr val="tx1"/>
                </a:solidFill>
                <a:latin typeface="Times New Roman" panose="02020603050405020304" pitchFamily="18" charset="0"/>
                <a:cs typeface="Times New Roman" panose="02020603050405020304" pitchFamily="18" charset="0"/>
              </a:rPr>
              <a:t>References</a:t>
            </a:r>
          </a:p>
          <a:p>
            <a:pPr fontAlgn="auto">
              <a:spcAft>
                <a:spcPts val="0"/>
              </a:spcAft>
              <a:buFont typeface="Arial" pitchFamily="34" charse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9BDDB294-65A2-B5A7-1094-D5CCD9085905}"/>
              </a:ext>
            </a:extLst>
          </p:cNvPr>
          <p:cNvSpPr txBox="1"/>
          <p:nvPr/>
        </p:nvSpPr>
        <p:spPr>
          <a:xfrm>
            <a:off x="1143000" y="1557278"/>
            <a:ext cx="6400800" cy="3210751"/>
          </a:xfrm>
          <a:prstGeom prst="rect">
            <a:avLst/>
          </a:prstGeom>
          <a:noFill/>
        </p:spPr>
        <p:txBody>
          <a:bodyPr wrap="square">
            <a:spAutoFit/>
          </a:bodyPr>
          <a:lstStyle/>
          <a:p>
            <a:pPr algn="just">
              <a:lnSpc>
                <a:spcPct val="120000"/>
              </a:lnSpc>
            </a:pPr>
            <a:r>
              <a:rPr lang="en-US" sz="1700" dirty="0">
                <a:latin typeface="+mn-lt"/>
              </a:rPr>
              <a:t>Medical imaging plays an important role in early disease diagnosis and modern healthcare. Deep learning has achieved strong results in medical image classification, but many existing systems focus on only one imaging modality and often depend on centralized data storage, which can create privacy and data-sharing concerns. Different medical images, such as brain MRI, chest X-ray, breast ultrasound, and </a:t>
            </a:r>
            <a:r>
              <a:rPr lang="en-US" sz="1700" dirty="0" err="1">
                <a:latin typeface="+mn-lt"/>
              </a:rPr>
              <a:t>dermoscopy</a:t>
            </a:r>
            <a:r>
              <a:rPr lang="en-US" sz="1700" dirty="0">
                <a:latin typeface="+mn-lt"/>
              </a:rPr>
              <a:t>, also have different visual characteristics and class distributions. To address these challenges, </a:t>
            </a:r>
            <a:r>
              <a:rPr lang="en-US" sz="1700" dirty="0" err="1">
                <a:latin typeface="+mn-lt"/>
              </a:rPr>
              <a:t>FedMultiMed</a:t>
            </a:r>
            <a:r>
              <a:rPr lang="en-US" sz="1700" dirty="0">
                <a:latin typeface="+mn-lt"/>
              </a:rPr>
              <a:t> combines federated learning, ensemble model, and Explainable AI in a single multi-modal medical image classification framework</a:t>
            </a:r>
            <a:r>
              <a:rPr lang="en-US" sz="1700" dirty="0">
                <a:solidFill>
                  <a:srgbClr val="202020"/>
                </a:solidFill>
                <a:latin typeface="+mn-lt"/>
                <a:ea typeface="Arial"/>
                <a:cs typeface="Arial"/>
              </a:rPr>
              <a:t>.</a:t>
            </a:r>
            <a:endParaRPr lang="en-US" sz="1700" dirty="0">
              <a:latin typeface="+mn-lt"/>
            </a:endParaRPr>
          </a:p>
        </p:txBody>
      </p:sp>
      <p:pic>
        <p:nvPicPr>
          <p:cNvPr id="6" name="Picture 5" descr="A screenshot of a medical app&#10;&#10;Description automatically generated">
            <a:extLst>
              <a:ext uri="{FF2B5EF4-FFF2-40B4-BE49-F238E27FC236}">
                <a16:creationId xmlns:a16="http://schemas.microsoft.com/office/drawing/2014/main" id="{D34F7B59-78E2-0C9C-019B-88683F2BE7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86423" y="1447800"/>
            <a:ext cx="3414977" cy="4267200"/>
          </a:xfrm>
          <a:prstGeom prst="rect">
            <a:avLst/>
          </a:prstGeom>
        </p:spPr>
      </p:pic>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6"/>
          </p:nvPr>
        </p:nvSpPr>
        <p:spPr>
          <a:xfrm>
            <a:off x="9144000" y="6019800"/>
            <a:ext cx="2844800" cy="365125"/>
          </a:xfrm>
        </p:spPr>
        <p:txBody>
          <a:bodyPr/>
          <a:lstStyle/>
          <a:p>
            <a:pPr>
              <a:defRPr/>
            </a:pPr>
            <a:fld id="{4CD333A3-7515-47B8-9EDC-EE0892D9C861}" type="slidenum">
              <a:rPr lang="en-US" smtClean="0"/>
              <a:pPr>
                <a:defRPr/>
              </a:pPr>
              <a:t>4</a:t>
            </a:fld>
            <a:endParaRPr lang="en-US" dirty="0"/>
          </a:p>
        </p:txBody>
      </p:sp>
      <p:sp>
        <p:nvSpPr>
          <p:cNvPr id="11" name="Title 1">
            <a:extLst>
              <a:ext uri="{FF2B5EF4-FFF2-40B4-BE49-F238E27FC236}">
                <a16:creationId xmlns:a16="http://schemas.microsoft.com/office/drawing/2014/main" id="{1F81CFC8-5318-90BA-E509-4F6D78043625}"/>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12" name="Rounded Rectangle 4">
            <a:extLst>
              <a:ext uri="{FF2B5EF4-FFF2-40B4-BE49-F238E27FC236}">
                <a16:creationId xmlns:a16="http://schemas.microsoft.com/office/drawing/2014/main" id="{2F26B868-FB4B-DA0A-D8A3-E9B9445ECF2B}"/>
              </a:ext>
            </a:extLst>
          </p:cNvPr>
          <p:cNvSpPr/>
          <p:nvPr/>
        </p:nvSpPr>
        <p:spPr>
          <a:xfrm>
            <a:off x="685800" y="1508760"/>
            <a:ext cx="10728655" cy="1287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F27FC20-E28D-356D-7828-EF1A510B7777}"/>
              </a:ext>
            </a:extLst>
          </p:cNvPr>
          <p:cNvSpPr/>
          <p:nvPr/>
        </p:nvSpPr>
        <p:spPr>
          <a:xfrm>
            <a:off x="685800" y="1508760"/>
            <a:ext cx="164592" cy="1287880"/>
          </a:xfrm>
          <a:prstGeom prst="rect">
            <a:avLst/>
          </a:prstGeom>
          <a:solidFill>
            <a:srgbClr val="00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2084F688-E3C9-7266-766B-6B89B17C7D4B}"/>
              </a:ext>
            </a:extLst>
          </p:cNvPr>
          <p:cNvSpPr txBox="1"/>
          <p:nvPr/>
        </p:nvSpPr>
        <p:spPr>
          <a:xfrm>
            <a:off x="1051560" y="1645920"/>
            <a:ext cx="10149840" cy="910570"/>
          </a:xfrm>
          <a:prstGeom prst="rect">
            <a:avLst/>
          </a:prstGeom>
          <a:noFill/>
        </p:spPr>
        <p:txBody>
          <a:bodyPr wrap="square">
            <a:spAutoFit/>
          </a:bodyPr>
          <a:lstStyle/>
          <a:p>
            <a:pPr>
              <a:lnSpc>
                <a:spcPct val="122000"/>
              </a:lnSpc>
              <a:defRPr sz="1350" b="1">
                <a:solidFill>
                  <a:srgbClr val="0A2540"/>
                </a:solidFill>
              </a:defRPr>
            </a:pPr>
            <a:r>
              <a:rPr sz="1500" dirty="0"/>
              <a:t>OBJECTIVE 1</a:t>
            </a:r>
            <a:r>
              <a:rPr lang="en-US" sz="1500" dirty="0"/>
              <a:t> —</a:t>
            </a:r>
            <a:r>
              <a:rPr sz="1500" dirty="0"/>
              <a:t> Multimodal Evaluation &amp; Complementary Backbone Selection</a:t>
            </a:r>
          </a:p>
          <a:p>
            <a:pPr>
              <a:lnSpc>
                <a:spcPct val="122000"/>
              </a:lnSpc>
              <a:defRPr sz="1300">
                <a:solidFill>
                  <a:srgbClr val="1E293B"/>
                </a:solidFill>
              </a:defRPr>
            </a:pPr>
            <a:r>
              <a:rPr sz="1500" dirty="0"/>
              <a:t>To evaluate pretrained CNN models and select optimal backbones for multimodal medical image classification across brain MRI, chest X-ray, breast-ultrasound, and </a:t>
            </a:r>
            <a:r>
              <a:rPr sz="1500" dirty="0" err="1"/>
              <a:t>dermoscopic</a:t>
            </a:r>
            <a:r>
              <a:rPr sz="1500" dirty="0"/>
              <a:t> images.</a:t>
            </a:r>
          </a:p>
        </p:txBody>
      </p:sp>
      <p:sp>
        <p:nvSpPr>
          <p:cNvPr id="15" name="Rounded Rectangle 7">
            <a:extLst>
              <a:ext uri="{FF2B5EF4-FFF2-40B4-BE49-F238E27FC236}">
                <a16:creationId xmlns:a16="http://schemas.microsoft.com/office/drawing/2014/main" id="{2E2C7EA1-C118-2927-8F57-EEC9282CBDD3}"/>
              </a:ext>
            </a:extLst>
          </p:cNvPr>
          <p:cNvSpPr/>
          <p:nvPr/>
        </p:nvSpPr>
        <p:spPr>
          <a:xfrm>
            <a:off x="685800" y="3108960"/>
            <a:ext cx="10728655" cy="1287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ADEE64FF-552B-1063-4B8D-9F6F258BF7B5}"/>
              </a:ext>
            </a:extLst>
          </p:cNvPr>
          <p:cNvSpPr/>
          <p:nvPr/>
        </p:nvSpPr>
        <p:spPr>
          <a:xfrm>
            <a:off x="685800" y="3108960"/>
            <a:ext cx="164592" cy="1287880"/>
          </a:xfrm>
          <a:prstGeom prst="rect">
            <a:avLst/>
          </a:prstGeom>
          <a:solidFill>
            <a:srgbClr val="009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AE864E94-8461-782C-5E21-890E28A31D75}"/>
              </a:ext>
            </a:extLst>
          </p:cNvPr>
          <p:cNvSpPr txBox="1"/>
          <p:nvPr/>
        </p:nvSpPr>
        <p:spPr>
          <a:xfrm>
            <a:off x="1051560" y="3246120"/>
            <a:ext cx="10454640" cy="910570"/>
          </a:xfrm>
          <a:prstGeom prst="rect">
            <a:avLst/>
          </a:prstGeom>
          <a:noFill/>
        </p:spPr>
        <p:txBody>
          <a:bodyPr wrap="square">
            <a:spAutoFit/>
          </a:bodyPr>
          <a:lstStyle/>
          <a:p>
            <a:pPr>
              <a:lnSpc>
                <a:spcPct val="122000"/>
              </a:lnSpc>
              <a:defRPr sz="1350" b="1">
                <a:solidFill>
                  <a:srgbClr val="0A2540"/>
                </a:solidFill>
              </a:defRPr>
            </a:pPr>
            <a:r>
              <a:rPr sz="1500" dirty="0"/>
              <a:t>OBJECTIVE 2 </a:t>
            </a:r>
            <a:r>
              <a:rPr lang="en-US" sz="1500" dirty="0"/>
              <a:t>—</a:t>
            </a:r>
            <a:r>
              <a:rPr sz="1500" dirty="0"/>
              <a:t> Privacy-Preserving Federated </a:t>
            </a:r>
            <a:r>
              <a:rPr sz="1500" dirty="0" err="1"/>
              <a:t>Ensembling</a:t>
            </a:r>
            <a:r>
              <a:rPr sz="1500" dirty="0"/>
              <a:t> Framework</a:t>
            </a:r>
          </a:p>
          <a:p>
            <a:pPr>
              <a:lnSpc>
                <a:spcPct val="122000"/>
              </a:lnSpc>
              <a:defRPr sz="1300">
                <a:solidFill>
                  <a:srgbClr val="1E293B"/>
                </a:solidFill>
              </a:defRPr>
            </a:pPr>
            <a:r>
              <a:rPr sz="1500" dirty="0"/>
              <a:t>To develop a privacy-preserving federated learning framework using the selected CNN backbones that evaluates multiple aggregation methods and builds a calibrated hybrid ensemble without transferring raw patient data.</a:t>
            </a:r>
          </a:p>
        </p:txBody>
      </p:sp>
      <p:sp>
        <p:nvSpPr>
          <p:cNvPr id="18" name="Rounded Rectangle 10">
            <a:extLst>
              <a:ext uri="{FF2B5EF4-FFF2-40B4-BE49-F238E27FC236}">
                <a16:creationId xmlns:a16="http://schemas.microsoft.com/office/drawing/2014/main" id="{F42E9947-6DCB-E8D9-ED4D-F27B9911CB0E}"/>
              </a:ext>
            </a:extLst>
          </p:cNvPr>
          <p:cNvSpPr/>
          <p:nvPr/>
        </p:nvSpPr>
        <p:spPr>
          <a:xfrm>
            <a:off x="685800" y="4709160"/>
            <a:ext cx="10728655" cy="1158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3582D41-3453-4AEA-548C-9B463FA5F827}"/>
              </a:ext>
            </a:extLst>
          </p:cNvPr>
          <p:cNvSpPr/>
          <p:nvPr/>
        </p:nvSpPr>
        <p:spPr>
          <a:xfrm>
            <a:off x="685800" y="4709160"/>
            <a:ext cx="164592" cy="1158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123BF51-4798-9A69-8510-969717107EC4}"/>
              </a:ext>
            </a:extLst>
          </p:cNvPr>
          <p:cNvSpPr txBox="1"/>
          <p:nvPr/>
        </p:nvSpPr>
        <p:spPr>
          <a:xfrm>
            <a:off x="1051559" y="4846320"/>
            <a:ext cx="10362895" cy="910570"/>
          </a:xfrm>
          <a:prstGeom prst="rect">
            <a:avLst/>
          </a:prstGeom>
          <a:noFill/>
        </p:spPr>
        <p:txBody>
          <a:bodyPr wrap="square">
            <a:spAutoFit/>
          </a:bodyPr>
          <a:lstStyle/>
          <a:p>
            <a:pPr>
              <a:lnSpc>
                <a:spcPct val="122000"/>
              </a:lnSpc>
              <a:defRPr sz="1350" b="1">
                <a:solidFill>
                  <a:srgbClr val="0A2540"/>
                </a:solidFill>
              </a:defRPr>
            </a:pPr>
            <a:r>
              <a:rPr sz="1500" dirty="0"/>
              <a:t>OBJECTIVE 3 — Diagnostic Validation &amp; Quantitative Explainable AI</a:t>
            </a:r>
          </a:p>
          <a:p>
            <a:pPr>
              <a:lnSpc>
                <a:spcPct val="122000"/>
              </a:lnSpc>
              <a:defRPr sz="1300">
                <a:solidFill>
                  <a:srgbClr val="1E293B"/>
                </a:solidFill>
              </a:defRPr>
            </a:pPr>
            <a:r>
              <a:rPr sz="1500" dirty="0"/>
              <a:t>To evaluate the diagnostic performance through held-out testing and cross-validation, and analyze prediction decisions using Grad-CAM, Grad-CAM++, Integrated Gradients, and LIME.</a:t>
            </a: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5</a:t>
            </a:fld>
            <a:endParaRPr lang="en-US" dirty="0"/>
          </a:p>
        </p:txBody>
      </p:sp>
      <p:graphicFrame>
        <p:nvGraphicFramePr>
          <p:cNvPr id="5" name="Table 4">
            <a:extLst>
              <a:ext uri="{FF2B5EF4-FFF2-40B4-BE49-F238E27FC236}">
                <a16:creationId xmlns:a16="http://schemas.microsoft.com/office/drawing/2014/main" id="{769A6FC4-29A3-91C5-0770-D1AAF7C931FC}"/>
              </a:ext>
            </a:extLst>
          </p:cNvPr>
          <p:cNvGraphicFramePr/>
          <p:nvPr>
            <p:extLst>
              <p:ext uri="{D42A27DB-BD31-4B8C-83A1-F6EECF244321}">
                <p14:modId xmlns:p14="http://schemas.microsoft.com/office/powerpoint/2010/main" val="3412092160"/>
              </p:ext>
            </p:extLst>
          </p:nvPr>
        </p:nvGraphicFramePr>
        <p:xfrm>
          <a:off x="495300" y="1190625"/>
          <a:ext cx="11201400" cy="4752975"/>
        </p:xfrm>
        <a:graphic>
          <a:graphicData uri="http://schemas.openxmlformats.org/drawingml/2006/table">
            <a:tbl>
              <a:tblPr firstRow="1" firstCol="1" bandRow="1">
                <a:tableStyleId>{5C22544A-7EE6-4342-B048-85BDC9FD1C3A}</a:tableStyleId>
              </a:tblPr>
              <a:tblGrid>
                <a:gridCol w="152400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3143250">
                  <a:extLst>
                    <a:ext uri="{9D8B030D-6E8A-4147-A177-3AD203B41FA5}">
                      <a16:colId xmlns:a16="http://schemas.microsoft.com/office/drawing/2014/main" val="20003"/>
                    </a:ext>
                  </a:extLst>
                </a:gridCol>
                <a:gridCol w="3009900">
                  <a:extLst>
                    <a:ext uri="{9D8B030D-6E8A-4147-A177-3AD203B41FA5}">
                      <a16:colId xmlns:a16="http://schemas.microsoft.com/office/drawing/2014/main" val="20004"/>
                    </a:ext>
                  </a:extLst>
                </a:gridCol>
              </a:tblGrid>
              <a:tr h="523875">
                <a:tc>
                  <a:txBody>
                    <a:bodyPr/>
                    <a:lstStyle/>
                    <a:p>
                      <a:pPr algn="ctr"/>
                      <a:r>
                        <a:rPr lang="en-US" sz="1300"/>
                        <a:t>Author(s)</a:t>
                      </a:r>
                    </a:p>
                  </a:txBody>
                  <a:tcPr anchor="ctr"/>
                </a:tc>
                <a:tc>
                  <a:txBody>
                    <a:bodyPr/>
                    <a:lstStyle/>
                    <a:p>
                      <a:pPr algn="ctr"/>
                      <a:r>
                        <a:rPr lang="en-US" sz="1300"/>
                        <a:t>Year</a:t>
                      </a:r>
                    </a:p>
                  </a:txBody>
                  <a:tcPr anchor="ctr"/>
                </a:tc>
                <a:tc>
                  <a:txBody>
                    <a:bodyPr/>
                    <a:lstStyle/>
                    <a:p>
                      <a:pPr algn="ctr"/>
                      <a:r>
                        <a:rPr lang="en-US" sz="1300"/>
                        <a:t>Title</a:t>
                      </a:r>
                    </a:p>
                  </a:txBody>
                  <a:tcPr anchor="ctr"/>
                </a:tc>
                <a:tc>
                  <a:txBody>
                    <a:bodyPr/>
                    <a:lstStyle/>
                    <a:p>
                      <a:pPr algn="ctr"/>
                      <a:r>
                        <a:rPr lang="en-US" sz="1300"/>
                        <a:t>Methodology</a:t>
                      </a:r>
                    </a:p>
                  </a:txBody>
                  <a:tcPr anchor="ctr"/>
                </a:tc>
                <a:tc>
                  <a:txBody>
                    <a:bodyPr/>
                    <a:lstStyle/>
                    <a:p>
                      <a:pPr algn="ctr"/>
                      <a:r>
                        <a:rPr lang="en-US" sz="1300" dirty="0"/>
                        <a:t>Key Findings</a:t>
                      </a:r>
                    </a:p>
                  </a:txBody>
                  <a:tcPr anchor="ctr"/>
                </a:tc>
                <a:extLst>
                  <a:ext uri="{0D108BD9-81ED-4DB2-BD59-A6C34878D82A}">
                    <a16:rowId xmlns:a16="http://schemas.microsoft.com/office/drawing/2014/main" val="10000"/>
                  </a:ext>
                </a:extLst>
              </a:tr>
              <a:tr h="704850">
                <a:tc>
                  <a:txBody>
                    <a:bodyPr/>
                    <a:lstStyle/>
                    <a:p>
                      <a:r>
                        <a:rPr lang="en-US" sz="1300" dirty="0"/>
                        <a:t>Haripriya et al. [1]</a:t>
                      </a:r>
                    </a:p>
                  </a:txBody>
                  <a:tcPr anchor="ctr"/>
                </a:tc>
                <a:tc>
                  <a:txBody>
                    <a:bodyPr/>
                    <a:lstStyle/>
                    <a:p>
                      <a:r>
                        <a:rPr lang="en-US" sz="1300"/>
                        <a:t>2025</a:t>
                      </a:r>
                    </a:p>
                  </a:txBody>
                  <a:tcPr anchor="ctr"/>
                </a:tc>
                <a:tc>
                  <a:txBody>
                    <a:bodyPr/>
                    <a:lstStyle/>
                    <a:p>
                      <a:r>
                        <a:rPr lang="en-US" sz="1300" dirty="0"/>
                        <a:t>Privacy-Preserving Federated Learning for Collaborative Medical Data Mining</a:t>
                      </a:r>
                    </a:p>
                  </a:txBody>
                  <a:tcPr anchor="ctr"/>
                </a:tc>
                <a:tc>
                  <a:txBody>
                    <a:bodyPr/>
                    <a:lstStyle/>
                    <a:p>
                      <a:r>
                        <a:rPr lang="en-US" sz="1300"/>
                        <a:t>EfficientNetV2 and ResNet-RS were trained using adaptive FedAvg and FedSGD based on client-data divergence.</a:t>
                      </a:r>
                    </a:p>
                  </a:txBody>
                  <a:tcPr anchor="ctr"/>
                </a:tc>
                <a:tc>
                  <a:txBody>
                    <a:bodyPr/>
                    <a:lstStyle/>
                    <a:p>
                      <a:r>
                        <a:rPr lang="en-US" sz="1300"/>
                        <a:t>Achieved up to 96.3% accuracy, but used fixed clients and communication rounds.</a:t>
                      </a:r>
                    </a:p>
                  </a:txBody>
                  <a:tcPr anchor="ctr"/>
                </a:tc>
                <a:extLst>
                  <a:ext uri="{0D108BD9-81ED-4DB2-BD59-A6C34878D82A}">
                    <a16:rowId xmlns:a16="http://schemas.microsoft.com/office/drawing/2014/main" val="10001"/>
                  </a:ext>
                </a:extLst>
              </a:tr>
              <a:tr h="704850">
                <a:tc>
                  <a:txBody>
                    <a:bodyPr/>
                    <a:lstStyle/>
                    <a:p>
                      <a:r>
                        <a:rPr lang="en-US" sz="1300" dirty="0" err="1"/>
                        <a:t>Muntaqim</a:t>
                      </a:r>
                      <a:r>
                        <a:rPr lang="en-US" sz="1300" dirty="0"/>
                        <a:t> and </a:t>
                      </a:r>
                      <a:r>
                        <a:rPr lang="en-US" sz="1300" dirty="0" err="1"/>
                        <a:t>Smrity</a:t>
                      </a:r>
                      <a:r>
                        <a:rPr lang="en-US" sz="1300" dirty="0"/>
                        <a:t> [2]</a:t>
                      </a:r>
                    </a:p>
                  </a:txBody>
                  <a:tcPr anchor="ctr"/>
                </a:tc>
                <a:tc>
                  <a:txBody>
                    <a:bodyPr/>
                    <a:lstStyle/>
                    <a:p>
                      <a:r>
                        <a:rPr lang="en-US" sz="1300"/>
                        <a:t>2025</a:t>
                      </a:r>
                    </a:p>
                  </a:txBody>
                  <a:tcPr anchor="ctr"/>
                </a:tc>
                <a:tc>
                  <a:txBody>
                    <a:bodyPr/>
                    <a:lstStyle/>
                    <a:p>
                      <a:r>
                        <a:rPr lang="en-US" sz="1300" dirty="0"/>
                        <a:t>Federated Learning Framework for Brain Tumor Detection Using MRI Images</a:t>
                      </a:r>
                    </a:p>
                  </a:txBody>
                  <a:tcPr anchor="ctr"/>
                </a:tc>
                <a:tc>
                  <a:txBody>
                    <a:bodyPr/>
                    <a:lstStyle/>
                    <a:p>
                      <a:r>
                        <a:rPr lang="en-US" sz="1300"/>
                        <a:t>VGG19 was trained across four non-IID clients using FedAvg, FedProx, and SCAFFOLD with Grad-CAM.</a:t>
                      </a:r>
                    </a:p>
                  </a:txBody>
                  <a:tcPr anchor="ctr"/>
                </a:tc>
                <a:tc>
                  <a:txBody>
                    <a:bodyPr/>
                    <a:lstStyle/>
                    <a:p>
                      <a:r>
                        <a:rPr lang="en-US" sz="1300"/>
                        <a:t>SCAFFOLD achieved 98.45% accuracy, but the study covered only brain MRI with simulated clients.</a:t>
                      </a:r>
                    </a:p>
                  </a:txBody>
                  <a:tcPr anchor="ctr"/>
                </a:tc>
                <a:extLst>
                  <a:ext uri="{0D108BD9-81ED-4DB2-BD59-A6C34878D82A}">
                    <a16:rowId xmlns:a16="http://schemas.microsoft.com/office/drawing/2014/main" val="10002"/>
                  </a:ext>
                </a:extLst>
              </a:tr>
              <a:tr h="704850">
                <a:tc>
                  <a:txBody>
                    <a:bodyPr/>
                    <a:lstStyle/>
                    <a:p>
                      <a:r>
                        <a:rPr lang="en-US" sz="1300" dirty="0" err="1"/>
                        <a:t>Borazjani</a:t>
                      </a:r>
                      <a:r>
                        <a:rPr lang="en-US" sz="1300" dirty="0"/>
                        <a:t> et al. [3]</a:t>
                      </a:r>
                    </a:p>
                  </a:txBody>
                  <a:tcPr anchor="ctr"/>
                </a:tc>
                <a:tc>
                  <a:txBody>
                    <a:bodyPr/>
                    <a:lstStyle/>
                    <a:p>
                      <a:r>
                        <a:rPr lang="en-US" sz="1300"/>
                        <a:t>2025</a:t>
                      </a:r>
                    </a:p>
                  </a:txBody>
                  <a:tcPr anchor="ctr"/>
                </a:tc>
                <a:tc>
                  <a:txBody>
                    <a:bodyPr/>
                    <a:lstStyle/>
                    <a:p>
                      <a:r>
                        <a:rPr lang="en-US" sz="1300"/>
                        <a:t>Multi-Modal Federated Learning for Cancer Staging Over Non-IID Datasets</a:t>
                      </a:r>
                    </a:p>
                  </a:txBody>
                  <a:tcPr anchor="ctr"/>
                </a:tc>
                <a:tc>
                  <a:txBody>
                    <a:bodyPr/>
                    <a:lstStyle/>
                    <a:p>
                      <a:r>
                        <a:rPr lang="en-US" sz="1300"/>
                        <a:t>Distributed gradient blending and proximity-aware weighting combined histopathology, clinical, and molecular data.</a:t>
                      </a:r>
                    </a:p>
                  </a:txBody>
                  <a:tcPr anchor="ctr"/>
                </a:tc>
                <a:tc>
                  <a:txBody>
                    <a:bodyPr/>
                    <a:lstStyle/>
                    <a:p>
                      <a:r>
                        <a:rPr lang="en-US" sz="1300"/>
                        <a:t>Improved accuracy by about 10–15 percentage points, but validation was limited to TCGA cohorts.</a:t>
                      </a:r>
                    </a:p>
                  </a:txBody>
                  <a:tcPr anchor="ctr"/>
                </a:tc>
                <a:extLst>
                  <a:ext uri="{0D108BD9-81ED-4DB2-BD59-A6C34878D82A}">
                    <a16:rowId xmlns:a16="http://schemas.microsoft.com/office/drawing/2014/main" val="10003"/>
                  </a:ext>
                </a:extLst>
              </a:tr>
              <a:tr h="704850">
                <a:tc>
                  <a:txBody>
                    <a:bodyPr/>
                    <a:lstStyle/>
                    <a:p>
                      <a:r>
                        <a:rPr lang="en-US" sz="1300" dirty="0"/>
                        <a:t>Fan et al. [4]</a:t>
                      </a:r>
                    </a:p>
                  </a:txBody>
                  <a:tcPr anchor="ctr"/>
                </a:tc>
                <a:tc>
                  <a:txBody>
                    <a:bodyPr/>
                    <a:lstStyle/>
                    <a:p>
                      <a:r>
                        <a:rPr lang="en-US" sz="1300" dirty="0"/>
                        <a:t>2025</a:t>
                      </a:r>
                    </a:p>
                  </a:txBody>
                  <a:tcPr anchor="ctr"/>
                </a:tc>
                <a:tc>
                  <a:txBody>
                    <a:bodyPr/>
                    <a:lstStyle/>
                    <a:p>
                      <a:r>
                        <a:rPr lang="en-US" sz="1300"/>
                        <a:t>A Personalized Multimodal Federated Learning Framework for Skin Cancer Diagnosis</a:t>
                      </a:r>
                    </a:p>
                  </a:txBody>
                  <a:tcPr anchor="ctr"/>
                </a:tc>
                <a:tc>
                  <a:txBody>
                    <a:bodyPr/>
                    <a:lstStyle/>
                    <a:p>
                      <a:r>
                        <a:rPr lang="en-US" sz="1300"/>
                        <a:t>Hierarchical aggregation, modality imputation, and attention-based fusion were used for incomplete multimodal data.</a:t>
                      </a:r>
                    </a:p>
                  </a:txBody>
                  <a:tcPr anchor="ctr"/>
                </a:tc>
                <a:tc>
                  <a:txBody>
                    <a:bodyPr/>
                    <a:lstStyle/>
                    <a:p>
                      <a:r>
                        <a:rPr lang="en-US" sz="1300"/>
                        <a:t>Achieved 92.32% accuracy and reduced communication by 32.9%, but focused only on skin cancer.</a:t>
                      </a:r>
                    </a:p>
                  </a:txBody>
                  <a:tcPr anchor="ctr"/>
                </a:tc>
                <a:extLst>
                  <a:ext uri="{0D108BD9-81ED-4DB2-BD59-A6C34878D82A}">
                    <a16:rowId xmlns:a16="http://schemas.microsoft.com/office/drawing/2014/main" val="10004"/>
                  </a:ext>
                </a:extLst>
              </a:tr>
              <a:tr h="704850">
                <a:tc>
                  <a:txBody>
                    <a:bodyPr/>
                    <a:lstStyle/>
                    <a:p>
                      <a:r>
                        <a:rPr lang="en-US" sz="1300" dirty="0"/>
                        <a:t>Gupta et al. [5]</a:t>
                      </a:r>
                    </a:p>
                  </a:txBody>
                  <a:tcPr anchor="ctr"/>
                </a:tc>
                <a:tc>
                  <a:txBody>
                    <a:bodyPr/>
                    <a:lstStyle/>
                    <a:p>
                      <a:r>
                        <a:rPr lang="en-US" sz="1300" dirty="0"/>
                        <a:t>2025</a:t>
                      </a:r>
                    </a:p>
                  </a:txBody>
                  <a:tcPr anchor="ctr"/>
                </a:tc>
                <a:tc>
                  <a:txBody>
                    <a:bodyPr/>
                    <a:lstStyle/>
                    <a:p>
                      <a:r>
                        <a:rPr lang="en-US" sz="1300"/>
                        <a:t>Applying YOLOv6 as an Ensemble Federated Learning Framework</a:t>
                      </a:r>
                    </a:p>
                  </a:txBody>
                  <a:tcPr anchor="ctr"/>
                </a:tc>
                <a:tc>
                  <a:txBody>
                    <a:bodyPr/>
                    <a:lstStyle/>
                    <a:p>
                      <a:r>
                        <a:rPr lang="en-US" sz="1300"/>
                        <a:t>Pruned YOLOv6 models were trained across five clients with ensemble prediction and homomorphic encryption.</a:t>
                      </a:r>
                    </a:p>
                  </a:txBody>
                  <a:tcPr anchor="ctr"/>
                </a:tc>
                <a:tc>
                  <a:txBody>
                    <a:bodyPr/>
                    <a:lstStyle/>
                    <a:p>
                      <a:r>
                        <a:rPr lang="en-US" sz="1300"/>
                        <a:t>Achieved 98% and 97% validation accuracy, but covered only breast-related datasets.</a:t>
                      </a:r>
                    </a:p>
                  </a:txBody>
                  <a:tcPr anchor="ctr"/>
                </a:tc>
                <a:extLst>
                  <a:ext uri="{0D108BD9-81ED-4DB2-BD59-A6C34878D82A}">
                    <a16:rowId xmlns:a16="http://schemas.microsoft.com/office/drawing/2014/main" val="10005"/>
                  </a:ext>
                </a:extLst>
              </a:tr>
              <a:tr h="704850">
                <a:tc>
                  <a:txBody>
                    <a:bodyPr/>
                    <a:lstStyle/>
                    <a:p>
                      <a:r>
                        <a:rPr lang="en-US" sz="1300" dirty="0"/>
                        <a:t>Pervez et al. [6]</a:t>
                      </a:r>
                    </a:p>
                  </a:txBody>
                  <a:tcPr anchor="ctr"/>
                </a:tc>
                <a:tc>
                  <a:txBody>
                    <a:bodyPr/>
                    <a:lstStyle/>
                    <a:p>
                      <a:r>
                        <a:rPr lang="en-US" sz="1300" dirty="0"/>
                        <a:t>2025</a:t>
                      </a:r>
                    </a:p>
                  </a:txBody>
                  <a:tcPr anchor="ctr"/>
                </a:tc>
                <a:tc>
                  <a:txBody>
                    <a:bodyPr/>
                    <a:lstStyle/>
                    <a:p>
                      <a:r>
                        <a:rPr lang="en-US" sz="1300"/>
                        <a:t>Towards Trustworthy AI-Driven Leukemia Diagnosis</a:t>
                      </a:r>
                    </a:p>
                  </a:txBody>
                  <a:tcPr anchor="ctr"/>
                </a:tc>
                <a:tc>
                  <a:txBody>
                    <a:bodyPr/>
                    <a:lstStyle/>
                    <a:p>
                      <a:r>
                        <a:rPr lang="en-US" sz="1300"/>
                        <a:t>EfficientNetB3 was trained through hierarchical federated learning and evaluated with 18 XAI methods.</a:t>
                      </a:r>
                    </a:p>
                  </a:txBody>
                  <a:tcPr anchor="ctr"/>
                </a:tc>
                <a:tc>
                  <a:txBody>
                    <a:bodyPr/>
                    <a:lstStyle/>
                    <a:p>
                      <a:r>
                        <a:rPr lang="en-US" sz="1300" dirty="0"/>
                        <a:t>Quantitatively evaluated explanation quality, but considered only microscopic blood-cell images.</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6</a:t>
            </a:fld>
            <a:endParaRPr lang="en-US" dirty="0"/>
          </a:p>
        </p:txBody>
      </p:sp>
      <p:graphicFrame>
        <p:nvGraphicFramePr>
          <p:cNvPr id="5" name="Table 4">
            <a:extLst>
              <a:ext uri="{FF2B5EF4-FFF2-40B4-BE49-F238E27FC236}">
                <a16:creationId xmlns:a16="http://schemas.microsoft.com/office/drawing/2014/main" id="{EB47DFF4-073F-D042-5E72-F1A475D820AD}"/>
              </a:ext>
            </a:extLst>
          </p:cNvPr>
          <p:cNvGraphicFramePr/>
          <p:nvPr>
            <p:extLst>
              <p:ext uri="{D42A27DB-BD31-4B8C-83A1-F6EECF244321}">
                <p14:modId xmlns:p14="http://schemas.microsoft.com/office/powerpoint/2010/main" val="906977798"/>
              </p:ext>
            </p:extLst>
          </p:nvPr>
        </p:nvGraphicFramePr>
        <p:xfrm>
          <a:off x="737305" y="1295400"/>
          <a:ext cx="10677150" cy="3341244"/>
        </p:xfrm>
        <a:graphic>
          <a:graphicData uri="http://schemas.openxmlformats.org/drawingml/2006/table">
            <a:tbl>
              <a:tblPr firstRow="1" bandRow="1">
                <a:tableStyleId>{5C22544A-7EE6-4342-B048-85BDC9FD1C3A}</a:tableStyleId>
              </a:tblPr>
              <a:tblGrid>
                <a:gridCol w="2332823">
                  <a:extLst>
                    <a:ext uri="{9D8B030D-6E8A-4147-A177-3AD203B41FA5}">
                      <a16:colId xmlns:a16="http://schemas.microsoft.com/office/drawing/2014/main" val="20000"/>
                    </a:ext>
                  </a:extLst>
                </a:gridCol>
                <a:gridCol w="1300997">
                  <a:extLst>
                    <a:ext uri="{9D8B030D-6E8A-4147-A177-3AD203B41FA5}">
                      <a16:colId xmlns:a16="http://schemas.microsoft.com/office/drawing/2014/main" val="20001"/>
                    </a:ext>
                  </a:extLst>
                </a:gridCol>
                <a:gridCol w="1300997">
                  <a:extLst>
                    <a:ext uri="{9D8B030D-6E8A-4147-A177-3AD203B41FA5}">
                      <a16:colId xmlns:a16="http://schemas.microsoft.com/office/drawing/2014/main" val="20002"/>
                    </a:ext>
                  </a:extLst>
                </a:gridCol>
                <a:gridCol w="1300997">
                  <a:extLst>
                    <a:ext uri="{9D8B030D-6E8A-4147-A177-3AD203B41FA5}">
                      <a16:colId xmlns:a16="http://schemas.microsoft.com/office/drawing/2014/main" val="20003"/>
                    </a:ext>
                  </a:extLst>
                </a:gridCol>
                <a:gridCol w="1031826">
                  <a:extLst>
                    <a:ext uri="{9D8B030D-6E8A-4147-A177-3AD203B41FA5}">
                      <a16:colId xmlns:a16="http://schemas.microsoft.com/office/drawing/2014/main" val="20004"/>
                    </a:ext>
                  </a:extLst>
                </a:gridCol>
                <a:gridCol w="1704755">
                  <a:extLst>
                    <a:ext uri="{9D8B030D-6E8A-4147-A177-3AD203B41FA5}">
                      <a16:colId xmlns:a16="http://schemas.microsoft.com/office/drawing/2014/main" val="20005"/>
                    </a:ext>
                  </a:extLst>
                </a:gridCol>
                <a:gridCol w="1704755">
                  <a:extLst>
                    <a:ext uri="{9D8B030D-6E8A-4147-A177-3AD203B41FA5}">
                      <a16:colId xmlns:a16="http://schemas.microsoft.com/office/drawing/2014/main" val="20006"/>
                    </a:ext>
                  </a:extLst>
                </a:gridCol>
              </a:tblGrid>
              <a:tr h="570070">
                <a:tc>
                  <a:txBody>
                    <a:bodyPr/>
                    <a:lstStyle/>
                    <a:p>
                      <a:pPr algn="ctr">
                        <a:buNone/>
                      </a:pPr>
                      <a:r>
                        <a:rPr sz="1300" b="1" dirty="0">
                          <a:solidFill>
                            <a:srgbClr val="FFFFFF"/>
                          </a:solidFill>
                          <a:latin typeface="Arial"/>
                          <a:ea typeface="Arial"/>
                          <a:cs typeface="Arial"/>
                        </a:rPr>
                        <a:t>Study</a:t>
                      </a:r>
                      <a:endParaRPr sz="1300" dirty="0">
                        <a:latin typeface="Times New Roman"/>
                        <a:ea typeface="Times New Roman"/>
                        <a:cs typeface="Times New Roman"/>
                      </a:endParaRPr>
                    </a:p>
                  </a:txBody>
                  <a:tcPr marL="66675" marR="66675" marT="47625" marB="47625" anchor="ctr">
                    <a:solidFill>
                      <a:srgbClr val="4F81BD"/>
                    </a:solidFill>
                  </a:tcPr>
                </a:tc>
                <a:tc>
                  <a:txBody>
                    <a:bodyPr/>
                    <a:lstStyle/>
                    <a:p>
                      <a:pPr algn="ctr">
                        <a:buNone/>
                      </a:pPr>
                      <a:r>
                        <a:rPr sz="1300" b="1">
                          <a:solidFill>
                            <a:srgbClr val="FFFFFF"/>
                          </a:solidFill>
                          <a:latin typeface="Arial"/>
                          <a:ea typeface="Arial"/>
                          <a:cs typeface="Arial"/>
                        </a:rPr>
                        <a:t>Multi-modal</a:t>
                      </a:r>
                      <a:endParaRPr sz="1300">
                        <a:latin typeface="Times New Roman"/>
                        <a:ea typeface="Times New Roman"/>
                        <a:cs typeface="Times New Roman"/>
                      </a:endParaRPr>
                    </a:p>
                  </a:txBody>
                  <a:tcPr marL="66675" marR="66675" marT="47625" marB="47625" anchor="ctr">
                    <a:solidFill>
                      <a:srgbClr val="4F81BD"/>
                    </a:solidFill>
                  </a:tcPr>
                </a:tc>
                <a:tc>
                  <a:txBody>
                    <a:bodyPr/>
                    <a:lstStyle/>
                    <a:p>
                      <a:pPr algn="ctr">
                        <a:buNone/>
                      </a:pPr>
                      <a:r>
                        <a:rPr sz="1300" b="1">
                          <a:solidFill>
                            <a:srgbClr val="FFFFFF"/>
                          </a:solidFill>
                          <a:latin typeface="Arial"/>
                          <a:ea typeface="Arial"/>
                          <a:cs typeface="Arial"/>
                        </a:rPr>
                        <a:t>Federated</a:t>
                      </a:r>
                      <a:endParaRPr sz="1300">
                        <a:latin typeface="Times New Roman"/>
                        <a:ea typeface="Times New Roman"/>
                        <a:cs typeface="Times New Roman"/>
                      </a:endParaRPr>
                    </a:p>
                  </a:txBody>
                  <a:tcPr marL="66675" marR="66675" marT="47625" marB="47625" anchor="ctr">
                    <a:solidFill>
                      <a:srgbClr val="4F81BD"/>
                    </a:solidFill>
                  </a:tcPr>
                </a:tc>
                <a:tc>
                  <a:txBody>
                    <a:bodyPr/>
                    <a:lstStyle/>
                    <a:p>
                      <a:pPr algn="ctr"/>
                      <a:r>
                        <a:rPr sz="1300" b="1">
                          <a:solidFill>
                            <a:srgbClr val="FFFFFF"/>
                          </a:solidFill>
                          <a:latin typeface="Arial"/>
                          <a:ea typeface="Arial"/>
                          <a:cs typeface="Arial"/>
                        </a:rPr>
                        <a:t>Ensemble</a:t>
                      </a:r>
                    </a:p>
                  </a:txBody>
                  <a:tcPr marL="66675" marR="66675" marT="47625" marB="47625" anchor="ctr">
                    <a:solidFill>
                      <a:srgbClr val="4F81BD"/>
                    </a:solidFill>
                  </a:tcPr>
                </a:tc>
                <a:tc>
                  <a:txBody>
                    <a:bodyPr/>
                    <a:lstStyle/>
                    <a:p>
                      <a:pPr algn="ctr"/>
                      <a:r>
                        <a:rPr sz="1300" b="1">
                          <a:solidFill>
                            <a:srgbClr val="FFFFFF"/>
                          </a:solidFill>
                          <a:latin typeface="Arial"/>
                          <a:ea typeface="Arial"/>
                          <a:cs typeface="Arial"/>
                        </a:rPr>
                        <a:t>XAI</a:t>
                      </a:r>
                    </a:p>
                  </a:txBody>
                  <a:tcPr marL="66675" marR="66675" marT="47625" marB="47625" anchor="ctr">
                    <a:solidFill>
                      <a:srgbClr val="4F81BD"/>
                    </a:solidFill>
                  </a:tcPr>
                </a:tc>
                <a:tc>
                  <a:txBody>
                    <a:bodyPr/>
                    <a:lstStyle/>
                    <a:p>
                      <a:pPr algn="ctr"/>
                      <a:r>
                        <a:rPr sz="1300" b="1">
                          <a:solidFill>
                            <a:srgbClr val="FFFFFF"/>
                          </a:solidFill>
                          <a:latin typeface="Arial"/>
                          <a:ea typeface="Arial"/>
                          <a:cs typeface="Arial"/>
                        </a:rPr>
                        <a:t>Aggregation Compared</a:t>
                      </a:r>
                    </a:p>
                  </a:txBody>
                  <a:tcPr marL="66675" marR="66675" marT="47625" marB="47625" anchor="ctr">
                    <a:solidFill>
                      <a:srgbClr val="4F81BD"/>
                    </a:solidFill>
                  </a:tcPr>
                </a:tc>
                <a:tc>
                  <a:txBody>
                    <a:bodyPr/>
                    <a:lstStyle/>
                    <a:p>
                      <a:pPr algn="ctr"/>
                      <a:r>
                        <a:rPr sz="1300" b="1" dirty="0">
                          <a:solidFill>
                            <a:srgbClr val="FFFFFF"/>
                          </a:solidFill>
                          <a:latin typeface="Arial"/>
                          <a:ea typeface="Arial"/>
                          <a:cs typeface="Arial"/>
                        </a:rPr>
                        <a:t>Leakage-Controlled </a:t>
                      </a:r>
                    </a:p>
                  </a:txBody>
                  <a:tcPr marL="66675" marR="66675" marT="47625" marB="47625" anchor="ctr">
                    <a:solidFill>
                      <a:srgbClr val="4F81BD"/>
                    </a:solidFill>
                  </a:tcPr>
                </a:tc>
                <a:extLst>
                  <a:ext uri="{0D108BD9-81ED-4DB2-BD59-A6C34878D82A}">
                    <a16:rowId xmlns:a16="http://schemas.microsoft.com/office/drawing/2014/main" val="10000"/>
                  </a:ext>
                </a:extLst>
              </a:tr>
              <a:tr h="395882">
                <a:tc>
                  <a:txBody>
                    <a:bodyPr/>
                    <a:lstStyle/>
                    <a:p>
                      <a:pPr algn="l">
                        <a:buNone/>
                      </a:pPr>
                      <a:r>
                        <a:rPr sz="1300" dirty="0">
                          <a:solidFill>
                            <a:srgbClr val="202020"/>
                          </a:solidFill>
                          <a:latin typeface="Arial"/>
                          <a:ea typeface="Arial"/>
                          <a:cs typeface="Arial"/>
                        </a:rPr>
                        <a:t>Haripriya et al. [</a:t>
                      </a:r>
                      <a:r>
                        <a:rPr lang="en-US" sz="1300" dirty="0">
                          <a:solidFill>
                            <a:srgbClr val="202020"/>
                          </a:solidFill>
                          <a:latin typeface="Arial"/>
                          <a:ea typeface="Arial"/>
                          <a:cs typeface="Arial"/>
                        </a:rPr>
                        <a:t>1</a:t>
                      </a:r>
                      <a:r>
                        <a:rPr sz="1300" dirty="0">
                          <a:solidFill>
                            <a:srgbClr val="202020"/>
                          </a:solidFill>
                          <a:latin typeface="Arial"/>
                          <a:ea typeface="Arial"/>
                          <a:cs typeface="Arial"/>
                        </a:rPr>
                        <a:t>]</a:t>
                      </a:r>
                      <a:endParaRPr sz="1300" dirty="0">
                        <a:latin typeface="Times New Roman"/>
                        <a:ea typeface="Times New Roman"/>
                        <a:cs typeface="Times New Roman"/>
                      </a:endParaRPr>
                    </a:p>
                  </a:txBody>
                  <a:tcPr marL="66675" marR="66675" marT="47625" marB="47625" anchor="ctr">
                    <a:solidFill>
                      <a:srgbClr val="FFFFFF"/>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1"/>
                  </a:ext>
                </a:extLst>
              </a:tr>
              <a:tr h="395882">
                <a:tc>
                  <a:txBody>
                    <a:bodyPr/>
                    <a:lstStyle/>
                    <a:p>
                      <a:pPr algn="l">
                        <a:buNone/>
                      </a:pPr>
                      <a:r>
                        <a:rPr sz="1300" dirty="0" err="1">
                          <a:solidFill>
                            <a:srgbClr val="202020"/>
                          </a:solidFill>
                          <a:latin typeface="Arial"/>
                          <a:ea typeface="Arial"/>
                          <a:cs typeface="Arial"/>
                        </a:rPr>
                        <a:t>Muntaqim</a:t>
                      </a:r>
                      <a:r>
                        <a:rPr sz="1300" dirty="0">
                          <a:solidFill>
                            <a:srgbClr val="202020"/>
                          </a:solidFill>
                          <a:latin typeface="Arial"/>
                          <a:ea typeface="Arial"/>
                          <a:cs typeface="Arial"/>
                        </a:rPr>
                        <a:t> &amp; </a:t>
                      </a:r>
                      <a:r>
                        <a:rPr sz="1300" dirty="0" err="1">
                          <a:solidFill>
                            <a:srgbClr val="202020"/>
                          </a:solidFill>
                          <a:latin typeface="Arial"/>
                          <a:ea typeface="Arial"/>
                          <a:cs typeface="Arial"/>
                        </a:rPr>
                        <a:t>Smrity</a:t>
                      </a:r>
                      <a:r>
                        <a:rPr sz="1300" dirty="0">
                          <a:solidFill>
                            <a:srgbClr val="202020"/>
                          </a:solidFill>
                          <a:latin typeface="Arial"/>
                          <a:ea typeface="Arial"/>
                          <a:cs typeface="Arial"/>
                        </a:rPr>
                        <a:t> [2]</a:t>
                      </a:r>
                      <a:endParaRPr sz="1300" dirty="0">
                        <a:latin typeface="Times New Roman"/>
                        <a:ea typeface="Times New Roman"/>
                        <a:cs typeface="Times New Roman"/>
                      </a:endParaRPr>
                    </a:p>
                  </a:txBody>
                  <a:tcPr marL="66675" marR="66675" marT="47625" marB="47625" anchor="ctr">
                    <a:solidFill>
                      <a:srgbClr val="EEF4FA"/>
                    </a:solidFill>
                  </a:tcPr>
                </a:tc>
                <a:tc>
                  <a:txBody>
                    <a:bodyPr/>
                    <a:lstStyle/>
                    <a:p>
                      <a:pPr algn="ctr">
                        <a:buNone/>
                      </a:pPr>
                      <a:r>
                        <a:rPr sz="1300" b="1">
                          <a:solidFill>
                            <a:srgbClr val="9C2F2F"/>
                          </a:solidFill>
                          <a:latin typeface="Arial"/>
                          <a:ea typeface="Arial"/>
                          <a:cs typeface="Arial"/>
                        </a:rPr>
                        <a:t>No</a:t>
                      </a:r>
                      <a:endParaRPr sz="1300">
                        <a:latin typeface="Times New Roman"/>
                        <a:ea typeface="Times New Roman"/>
                        <a:cs typeface="Times New Roman"/>
                      </a:endParaRPr>
                    </a:p>
                  </a:txBody>
                  <a:tcPr marL="66675" marR="66675" marT="47625" marB="47625" anchor="ctr">
                    <a:solidFill>
                      <a:srgbClr val="FCE4E4"/>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2"/>
                  </a:ext>
                </a:extLst>
              </a:tr>
              <a:tr h="395882">
                <a:tc>
                  <a:txBody>
                    <a:bodyPr/>
                    <a:lstStyle/>
                    <a:p>
                      <a:pPr algn="l">
                        <a:buNone/>
                      </a:pPr>
                      <a:r>
                        <a:rPr sz="1300" dirty="0" err="1">
                          <a:solidFill>
                            <a:srgbClr val="202020"/>
                          </a:solidFill>
                          <a:latin typeface="Arial"/>
                          <a:ea typeface="Arial"/>
                          <a:cs typeface="Arial"/>
                        </a:rPr>
                        <a:t>Borazjani</a:t>
                      </a:r>
                      <a:r>
                        <a:rPr sz="1300" dirty="0">
                          <a:solidFill>
                            <a:srgbClr val="202020"/>
                          </a:solidFill>
                          <a:latin typeface="Arial"/>
                          <a:ea typeface="Arial"/>
                          <a:cs typeface="Arial"/>
                        </a:rPr>
                        <a:t> et al. [3]</a:t>
                      </a:r>
                      <a:endParaRPr sz="1300" dirty="0">
                        <a:latin typeface="Times New Roman"/>
                        <a:ea typeface="Times New Roman"/>
                        <a:cs typeface="Times New Roman"/>
                      </a:endParaRPr>
                    </a:p>
                  </a:txBody>
                  <a:tcPr marL="66675" marR="66675" marT="47625" marB="47625" anchor="ctr">
                    <a:solidFill>
                      <a:srgbClr val="FFFFFF"/>
                    </a:solidFill>
                  </a:tcPr>
                </a:tc>
                <a:tc>
                  <a:txBody>
                    <a:bodyPr/>
                    <a:lstStyle/>
                    <a:p>
                      <a:pPr algn="ctr">
                        <a:buNone/>
                      </a:pPr>
                      <a:r>
                        <a:rPr sz="1300" b="1" dirty="0">
                          <a:solidFill>
                            <a:srgbClr val="2E6B2E"/>
                          </a:solidFill>
                          <a:latin typeface="Arial"/>
                          <a:ea typeface="Arial"/>
                          <a:cs typeface="Arial"/>
                        </a:rPr>
                        <a:t>Yes</a:t>
                      </a:r>
                      <a:endParaRPr sz="1300" dirty="0">
                        <a:latin typeface="Times New Roman"/>
                        <a:ea typeface="Times New Roman"/>
                        <a:cs typeface="Times New Roman"/>
                      </a:endParaRPr>
                    </a:p>
                  </a:txBody>
                  <a:tcPr marL="66675" marR="66675" marT="47625" marB="47625" anchor="ctr">
                    <a:solidFill>
                      <a:srgbClr val="E2F0D9"/>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3"/>
                  </a:ext>
                </a:extLst>
              </a:tr>
              <a:tr h="395882">
                <a:tc>
                  <a:txBody>
                    <a:bodyPr/>
                    <a:lstStyle/>
                    <a:p>
                      <a:pPr algn="l">
                        <a:buNone/>
                      </a:pPr>
                      <a:r>
                        <a:rPr sz="1300" dirty="0">
                          <a:solidFill>
                            <a:srgbClr val="202020"/>
                          </a:solidFill>
                          <a:latin typeface="Arial"/>
                          <a:ea typeface="Arial"/>
                          <a:cs typeface="Arial"/>
                        </a:rPr>
                        <a:t>Fan et al. [</a:t>
                      </a:r>
                      <a:r>
                        <a:rPr lang="en-US" sz="1300" dirty="0">
                          <a:solidFill>
                            <a:srgbClr val="202020"/>
                          </a:solidFill>
                          <a:latin typeface="Arial"/>
                          <a:ea typeface="Arial"/>
                          <a:cs typeface="Arial"/>
                        </a:rPr>
                        <a:t>4</a:t>
                      </a:r>
                      <a:r>
                        <a:rPr sz="1300" dirty="0">
                          <a:solidFill>
                            <a:srgbClr val="202020"/>
                          </a:solidFill>
                          <a:latin typeface="Arial"/>
                          <a:ea typeface="Arial"/>
                          <a:cs typeface="Arial"/>
                        </a:rPr>
                        <a:t>]</a:t>
                      </a:r>
                      <a:endParaRPr sz="1300" dirty="0">
                        <a:latin typeface="Times New Roman"/>
                        <a:ea typeface="Times New Roman"/>
                        <a:cs typeface="Times New Roman"/>
                      </a:endParaRPr>
                    </a:p>
                  </a:txBody>
                  <a:tcPr marL="66675" marR="66675" marT="47625" marB="47625" anchor="ctr">
                    <a:solidFill>
                      <a:srgbClr val="EEF4FA"/>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4"/>
                  </a:ext>
                </a:extLst>
              </a:tr>
              <a:tr h="395882">
                <a:tc>
                  <a:txBody>
                    <a:bodyPr/>
                    <a:lstStyle/>
                    <a:p>
                      <a:pPr algn="l">
                        <a:buNone/>
                      </a:pPr>
                      <a:r>
                        <a:rPr sz="1300" dirty="0">
                          <a:solidFill>
                            <a:srgbClr val="202020"/>
                          </a:solidFill>
                          <a:latin typeface="Arial"/>
                          <a:ea typeface="Arial"/>
                          <a:cs typeface="Arial"/>
                        </a:rPr>
                        <a:t>Gupta et al. [</a:t>
                      </a:r>
                      <a:r>
                        <a:rPr lang="en-US" sz="1300" dirty="0">
                          <a:solidFill>
                            <a:srgbClr val="202020"/>
                          </a:solidFill>
                          <a:latin typeface="Arial"/>
                          <a:ea typeface="Arial"/>
                          <a:cs typeface="Arial"/>
                        </a:rPr>
                        <a:t>5</a:t>
                      </a:r>
                      <a:r>
                        <a:rPr sz="1300" dirty="0">
                          <a:solidFill>
                            <a:srgbClr val="202020"/>
                          </a:solidFill>
                          <a:latin typeface="Arial"/>
                          <a:ea typeface="Arial"/>
                          <a:cs typeface="Arial"/>
                        </a:rPr>
                        <a:t>]</a:t>
                      </a:r>
                      <a:endParaRPr sz="1300" dirty="0">
                        <a:latin typeface="Times New Roman"/>
                        <a:ea typeface="Times New Roman"/>
                        <a:cs typeface="Times New Roman"/>
                      </a:endParaRPr>
                    </a:p>
                  </a:txBody>
                  <a:tcPr marL="66675" marR="66675" marT="47625" marB="47625" anchor="ctr">
                    <a:solidFill>
                      <a:srgbClr val="FFFFFF"/>
                    </a:solidFill>
                  </a:tcPr>
                </a:tc>
                <a:tc>
                  <a:txBody>
                    <a:bodyPr/>
                    <a:lstStyle/>
                    <a:p>
                      <a:pPr algn="ctr">
                        <a:buNone/>
                      </a:pPr>
                      <a:r>
                        <a:rPr sz="1300" b="1">
                          <a:solidFill>
                            <a:srgbClr val="2E6B2E"/>
                          </a:solidFill>
                          <a:latin typeface="Arial"/>
                          <a:ea typeface="Arial"/>
                          <a:cs typeface="Arial"/>
                        </a:rPr>
                        <a:t>Yes</a:t>
                      </a:r>
                      <a:endParaRPr sz="1300">
                        <a:latin typeface="Times New Roman"/>
                        <a:ea typeface="Times New Roman"/>
                        <a:cs typeface="Times New Roman"/>
                      </a:endParaRPr>
                    </a:p>
                  </a:txBody>
                  <a:tcPr marL="66675" marR="66675" marT="47625" marB="47625" anchor="ctr">
                    <a:solidFill>
                      <a:srgbClr val="E2F0D9"/>
                    </a:solidFill>
                  </a:tcPr>
                </a:tc>
                <a:tc>
                  <a:txBody>
                    <a:bodyPr/>
                    <a:lstStyle/>
                    <a:p>
                      <a:pPr algn="ctr">
                        <a:buNone/>
                      </a:pPr>
                      <a:r>
                        <a:rPr sz="1300" b="1" dirty="0">
                          <a:solidFill>
                            <a:srgbClr val="2E6B2E"/>
                          </a:solidFill>
                          <a:latin typeface="Arial"/>
                          <a:ea typeface="Arial"/>
                          <a:cs typeface="Arial"/>
                        </a:rPr>
                        <a:t>Yes</a:t>
                      </a:r>
                      <a:endParaRPr sz="1300" dirty="0">
                        <a:latin typeface="Times New Roman"/>
                        <a:ea typeface="Times New Roman"/>
                        <a:cs typeface="Times New Roman"/>
                      </a:endParaRPr>
                    </a:p>
                  </a:txBody>
                  <a:tcPr marL="66675" marR="66675" marT="47625" marB="47625" anchor="ctr">
                    <a:solidFill>
                      <a:srgbClr val="E2F0D9"/>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dirty="0">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5"/>
                  </a:ext>
                </a:extLst>
              </a:tr>
              <a:tr h="395882">
                <a:tc>
                  <a:txBody>
                    <a:bodyPr/>
                    <a:lstStyle/>
                    <a:p>
                      <a:pPr algn="l"/>
                      <a:r>
                        <a:rPr sz="1300" dirty="0">
                          <a:solidFill>
                            <a:srgbClr val="202020"/>
                          </a:solidFill>
                          <a:latin typeface="Arial"/>
                          <a:ea typeface="Arial"/>
                          <a:cs typeface="Arial"/>
                        </a:rPr>
                        <a:t>Pervez et al. [</a:t>
                      </a:r>
                      <a:r>
                        <a:rPr lang="en-US" sz="1300" dirty="0">
                          <a:solidFill>
                            <a:srgbClr val="202020"/>
                          </a:solidFill>
                          <a:latin typeface="Arial"/>
                          <a:ea typeface="Arial"/>
                          <a:cs typeface="Arial"/>
                        </a:rPr>
                        <a:t>6</a:t>
                      </a:r>
                      <a:r>
                        <a:rPr sz="1300" dirty="0">
                          <a:solidFill>
                            <a:srgbClr val="202020"/>
                          </a:solidFill>
                          <a:latin typeface="Arial"/>
                          <a:ea typeface="Arial"/>
                          <a:cs typeface="Arial"/>
                        </a:rPr>
                        <a:t>]</a:t>
                      </a:r>
                    </a:p>
                  </a:txBody>
                  <a:tcPr marL="66675" marR="66675" marT="47625" marB="47625" anchor="ctr">
                    <a:solidFill>
                      <a:srgbClr val="EEF4FA"/>
                    </a:solidFill>
                  </a:tcPr>
                </a:tc>
                <a:tc>
                  <a:txBody>
                    <a:bodyPr/>
                    <a:lstStyle/>
                    <a:p>
                      <a:pPr algn="ctr"/>
                      <a:r>
                        <a:rPr sz="1300" b="1" dirty="0">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2E6B2E"/>
                          </a:solidFill>
                          <a:latin typeface="Arial"/>
                          <a:ea typeface="Arial"/>
                          <a:cs typeface="Arial"/>
                        </a:rPr>
                        <a:t>Yes</a:t>
                      </a:r>
                    </a:p>
                  </a:txBody>
                  <a:tcPr marL="66675" marR="66675" marT="47625" marB="47625" anchor="ctr">
                    <a:solidFill>
                      <a:srgbClr val="E2F0D9"/>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tc>
                  <a:txBody>
                    <a:bodyPr/>
                    <a:lstStyle/>
                    <a:p>
                      <a:pPr algn="ctr"/>
                      <a:r>
                        <a:rPr sz="1300" b="1">
                          <a:solidFill>
                            <a:srgbClr val="9C2F2F"/>
                          </a:solidFill>
                          <a:latin typeface="Arial"/>
                          <a:ea typeface="Arial"/>
                          <a:cs typeface="Arial"/>
                        </a:rPr>
                        <a:t>No</a:t>
                      </a:r>
                    </a:p>
                  </a:txBody>
                  <a:tcPr marL="66675" marR="66675" marT="47625" marB="47625" anchor="ctr">
                    <a:solidFill>
                      <a:srgbClr val="FCE4E4"/>
                    </a:solidFill>
                  </a:tcPr>
                </a:tc>
                <a:extLst>
                  <a:ext uri="{0D108BD9-81ED-4DB2-BD59-A6C34878D82A}">
                    <a16:rowId xmlns:a16="http://schemas.microsoft.com/office/drawing/2014/main" val="10006"/>
                  </a:ext>
                </a:extLst>
              </a:tr>
              <a:tr h="395882">
                <a:tc>
                  <a:txBody>
                    <a:bodyPr/>
                    <a:lstStyle/>
                    <a:p>
                      <a:pPr algn="l"/>
                      <a:r>
                        <a:rPr sz="1300" b="1" dirty="0">
                          <a:solidFill>
                            <a:srgbClr val="1F5C67"/>
                          </a:solidFill>
                          <a:latin typeface="Arial"/>
                          <a:ea typeface="Arial"/>
                          <a:cs typeface="Arial"/>
                        </a:rPr>
                        <a:t>Proposed </a:t>
                      </a:r>
                      <a:r>
                        <a:rPr sz="1300" b="1" dirty="0" err="1">
                          <a:solidFill>
                            <a:srgbClr val="1F5C67"/>
                          </a:solidFill>
                          <a:latin typeface="Arial"/>
                          <a:ea typeface="Arial"/>
                          <a:cs typeface="Arial"/>
                        </a:rPr>
                        <a:t>FedMultiMed</a:t>
                      </a:r>
                      <a:endParaRPr sz="1300" b="1" dirty="0">
                        <a:solidFill>
                          <a:srgbClr val="1F5C67"/>
                        </a:solidFill>
                        <a:latin typeface="Arial"/>
                        <a:ea typeface="Arial"/>
                        <a:cs typeface="Arial"/>
                      </a:endParaRPr>
                    </a:p>
                  </a:txBody>
                  <a:tcPr marL="66675" marR="66675" marT="47625" marB="47625" anchor="ctr">
                    <a:solidFill>
                      <a:srgbClr val="D9EAF7"/>
                    </a:solidFill>
                  </a:tcPr>
                </a:tc>
                <a:tc>
                  <a:txBody>
                    <a:bodyPr/>
                    <a:lstStyle/>
                    <a:p>
                      <a:pPr algn="ctr"/>
                      <a:r>
                        <a:rPr sz="1300" b="1">
                          <a:solidFill>
                            <a:srgbClr val="1F5C67"/>
                          </a:solidFill>
                          <a:latin typeface="Arial"/>
                          <a:ea typeface="Arial"/>
                          <a:cs typeface="Arial"/>
                        </a:rPr>
                        <a:t>Yes</a:t>
                      </a:r>
                    </a:p>
                  </a:txBody>
                  <a:tcPr marL="66675" marR="66675" marT="47625" marB="47625" anchor="ctr">
                    <a:solidFill>
                      <a:srgbClr val="D9EAF7"/>
                    </a:solidFill>
                  </a:tcPr>
                </a:tc>
                <a:tc>
                  <a:txBody>
                    <a:bodyPr/>
                    <a:lstStyle/>
                    <a:p>
                      <a:pPr algn="ctr"/>
                      <a:r>
                        <a:rPr sz="1300" b="1">
                          <a:solidFill>
                            <a:srgbClr val="1F5C67"/>
                          </a:solidFill>
                          <a:latin typeface="Arial"/>
                          <a:ea typeface="Arial"/>
                          <a:cs typeface="Arial"/>
                        </a:rPr>
                        <a:t>Yes</a:t>
                      </a:r>
                    </a:p>
                  </a:txBody>
                  <a:tcPr marL="66675" marR="66675" marT="47625" marB="47625" anchor="ctr">
                    <a:solidFill>
                      <a:srgbClr val="D9EAF7"/>
                    </a:solidFill>
                  </a:tcPr>
                </a:tc>
                <a:tc>
                  <a:txBody>
                    <a:bodyPr/>
                    <a:lstStyle/>
                    <a:p>
                      <a:pPr algn="ctr"/>
                      <a:r>
                        <a:rPr sz="1300" b="1">
                          <a:solidFill>
                            <a:srgbClr val="1F5C67"/>
                          </a:solidFill>
                          <a:latin typeface="Arial"/>
                          <a:ea typeface="Arial"/>
                          <a:cs typeface="Arial"/>
                        </a:rPr>
                        <a:t>Yes</a:t>
                      </a:r>
                    </a:p>
                  </a:txBody>
                  <a:tcPr marL="66675" marR="66675" marT="47625" marB="47625" anchor="ctr">
                    <a:solidFill>
                      <a:srgbClr val="D9EAF7"/>
                    </a:solidFill>
                  </a:tcPr>
                </a:tc>
                <a:tc>
                  <a:txBody>
                    <a:bodyPr/>
                    <a:lstStyle/>
                    <a:p>
                      <a:pPr algn="ctr"/>
                      <a:r>
                        <a:rPr sz="1300" b="1">
                          <a:solidFill>
                            <a:srgbClr val="1F5C67"/>
                          </a:solidFill>
                          <a:latin typeface="Arial"/>
                          <a:ea typeface="Arial"/>
                          <a:cs typeface="Arial"/>
                        </a:rPr>
                        <a:t>Yes</a:t>
                      </a:r>
                    </a:p>
                  </a:txBody>
                  <a:tcPr marL="66675" marR="66675" marT="47625" marB="47625" anchor="ctr">
                    <a:solidFill>
                      <a:srgbClr val="D9EAF7"/>
                    </a:solidFill>
                  </a:tcPr>
                </a:tc>
                <a:tc>
                  <a:txBody>
                    <a:bodyPr/>
                    <a:lstStyle/>
                    <a:p>
                      <a:pPr algn="ctr"/>
                      <a:r>
                        <a:rPr sz="1300" b="1">
                          <a:solidFill>
                            <a:srgbClr val="1F5C67"/>
                          </a:solidFill>
                          <a:latin typeface="Arial"/>
                          <a:ea typeface="Arial"/>
                          <a:cs typeface="Arial"/>
                        </a:rPr>
                        <a:t>Yes</a:t>
                      </a:r>
                    </a:p>
                  </a:txBody>
                  <a:tcPr marL="66675" marR="66675" marT="47625" marB="47625" anchor="ctr">
                    <a:solidFill>
                      <a:srgbClr val="D9EAF7"/>
                    </a:solidFill>
                  </a:tcPr>
                </a:tc>
                <a:tc>
                  <a:txBody>
                    <a:bodyPr/>
                    <a:lstStyle/>
                    <a:p>
                      <a:pPr algn="ctr"/>
                      <a:r>
                        <a:rPr sz="1300" b="1" dirty="0">
                          <a:solidFill>
                            <a:srgbClr val="1F5C67"/>
                          </a:solidFill>
                          <a:latin typeface="Arial"/>
                          <a:ea typeface="Arial"/>
                          <a:cs typeface="Arial"/>
                        </a:rPr>
                        <a:t>Yes</a:t>
                      </a:r>
                    </a:p>
                  </a:txBody>
                  <a:tcPr marL="66675" marR="66675" marT="47625" marB="47625" anchor="ctr">
                    <a:solidFill>
                      <a:srgbClr val="D9EAF7"/>
                    </a:solidFill>
                  </a:tcPr>
                </a:tc>
                <a:extLst>
                  <a:ext uri="{0D108BD9-81ED-4DB2-BD59-A6C34878D82A}">
                    <a16:rowId xmlns:a16="http://schemas.microsoft.com/office/drawing/2014/main" val="10007"/>
                  </a:ext>
                </a:extLst>
              </a:tr>
            </a:tbl>
          </a:graphicData>
        </a:graphic>
      </p:graphicFrame>
      <p:sp>
        <p:nvSpPr>
          <p:cNvPr id="6" name="Rounded Rectangle 5">
            <a:extLst>
              <a:ext uri="{FF2B5EF4-FFF2-40B4-BE49-F238E27FC236}">
                <a16:creationId xmlns:a16="http://schemas.microsoft.com/office/drawing/2014/main" id="{61959A29-EFA8-E880-F61F-0E7206DC3194}"/>
              </a:ext>
            </a:extLst>
          </p:cNvPr>
          <p:cNvSpPr/>
          <p:nvPr/>
        </p:nvSpPr>
        <p:spPr>
          <a:xfrm>
            <a:off x="737305" y="4914900"/>
            <a:ext cx="10677150" cy="1143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F91F6B3-9544-AE4F-71F1-6430D4A3A56C}"/>
              </a:ext>
            </a:extLst>
          </p:cNvPr>
          <p:cNvSpPr txBox="1"/>
          <p:nvPr/>
        </p:nvSpPr>
        <p:spPr>
          <a:xfrm>
            <a:off x="914400" y="5067300"/>
            <a:ext cx="10332720" cy="892552"/>
          </a:xfrm>
          <a:prstGeom prst="rect">
            <a:avLst/>
          </a:prstGeom>
          <a:noFill/>
        </p:spPr>
        <p:txBody>
          <a:bodyPr wrap="square">
            <a:spAutoFit/>
          </a:bodyPr>
          <a:lstStyle/>
          <a:p>
            <a:pPr>
              <a:defRPr sz="1050" b="1">
                <a:solidFill>
                  <a:srgbClr val="D97706"/>
                </a:solidFill>
              </a:defRPr>
            </a:pPr>
            <a:r>
              <a:rPr sz="1300" dirty="0">
                <a:latin typeface="+mn-lt"/>
              </a:rPr>
              <a:t>KEY TAKEAWAY FROM GAP ANALYSIS:</a:t>
            </a:r>
          </a:p>
          <a:p>
            <a:pPr algn="just">
              <a:defRPr sz="1050">
                <a:solidFill>
                  <a:srgbClr val="1E293B"/>
                </a:solidFill>
              </a:defRPr>
            </a:pPr>
            <a:r>
              <a:rPr lang="en-US" sz="1300" dirty="0">
                <a:latin typeface="+mn-lt"/>
              </a:rPr>
              <a:t>The reviewed studies address individual areas such as multimodality, federated Learning, ensemble models, or explainable AI. However, none of them combines all these features with multiple aggregation strategies and leakage-controlled data splitting. </a:t>
            </a:r>
            <a:r>
              <a:rPr lang="en-US" sz="1300" dirty="0" err="1">
                <a:latin typeface="+mn-lt"/>
              </a:rPr>
              <a:t>FedMultiMed</a:t>
            </a:r>
            <a:r>
              <a:rPr lang="en-US" sz="1300" dirty="0">
                <a:latin typeface="+mn-lt"/>
              </a:rPr>
              <a:t> addresses this integration gap within one framework</a:t>
            </a:r>
            <a:r>
              <a:rPr sz="1300" dirty="0">
                <a:latin typeface="+mn-lt"/>
              </a:rPr>
              <a:t>.</a:t>
            </a:r>
          </a:p>
        </p:txBody>
      </p:sp>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7</a:t>
            </a:fld>
            <a:endParaRPr lang="en-US" dirty="0"/>
          </a:p>
        </p:txBody>
      </p:sp>
      <p:sp>
        <p:nvSpPr>
          <p:cNvPr id="9" name="Title 1">
            <a:extLst>
              <a:ext uri="{FF2B5EF4-FFF2-40B4-BE49-F238E27FC236}">
                <a16:creationId xmlns:a16="http://schemas.microsoft.com/office/drawing/2014/main" id="{B425781C-A4FB-7063-D681-9E989474B2AC}"/>
              </a:ext>
            </a:extLst>
          </p:cNvPr>
          <p:cNvSpPr txBox="1">
            <a:spLocks/>
          </p:cNvSpPr>
          <p:nvPr/>
        </p:nvSpPr>
        <p:spPr>
          <a:xfrm>
            <a:off x="1981200" y="304800"/>
            <a:ext cx="8229600" cy="8683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chemeClr val="accent1">
                    <a:lumMod val="75000"/>
                  </a:schemeClr>
                </a:solidFill>
                <a:latin typeface="+mj-lt"/>
                <a:ea typeface="+mj-ea"/>
                <a:cs typeface="+mj-cs"/>
              </a:defRPr>
            </a:lvl1pPr>
          </a:lstStyle>
          <a:p>
            <a:pPr fontAlgn="auto">
              <a:spcAft>
                <a:spcPts val="0"/>
              </a:spcAft>
            </a:pPr>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pic>
        <p:nvPicPr>
          <p:cNvPr id="3" name="Picture 2" descr="A screenshot of a computer screen&#10;&#10;Description automatically generated">
            <a:extLst>
              <a:ext uri="{FF2B5EF4-FFF2-40B4-BE49-F238E27FC236}">
                <a16:creationId xmlns:a16="http://schemas.microsoft.com/office/drawing/2014/main" id="{AF1FFB02-2EBE-0130-83A6-185133D98005}"/>
              </a:ext>
            </a:extLst>
          </p:cNvPr>
          <p:cNvPicPr>
            <a:picLocks noChangeAspect="1"/>
          </p:cNvPicPr>
          <p:nvPr/>
        </p:nvPicPr>
        <p:blipFill>
          <a:blip r:embed="rId2"/>
          <a:stretch>
            <a:fillRect/>
          </a:stretch>
        </p:blipFill>
        <p:spPr>
          <a:xfrm>
            <a:off x="1066800" y="990600"/>
            <a:ext cx="10134600" cy="5201995"/>
          </a:xfrm>
          <a:prstGeom prst="rect">
            <a:avLst/>
          </a:prstGeom>
        </p:spPr>
      </p:pic>
    </p:spTree>
    <p:extLst>
      <p:ext uri="{BB962C8B-B14F-4D97-AF65-F5344CB8AC3E}">
        <p14:creationId xmlns:p14="http://schemas.microsoft.com/office/powerpoint/2010/main" val="92564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18167-DCB7-4D38-AF65-0EE376CF73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EA9C05-D465-F0C2-2235-6E62BE76C28A}"/>
              </a:ext>
            </a:extLst>
          </p:cNvPr>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8</a:t>
            </a:fld>
            <a:endParaRPr lang="en-US" dirty="0"/>
          </a:p>
        </p:txBody>
      </p:sp>
      <p:sp>
        <p:nvSpPr>
          <p:cNvPr id="6" name="Title 1">
            <a:extLst>
              <a:ext uri="{FF2B5EF4-FFF2-40B4-BE49-F238E27FC236}">
                <a16:creationId xmlns:a16="http://schemas.microsoft.com/office/drawing/2014/main" id="{D071ED04-B66C-0220-BA2A-637A07FD4301}"/>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9" name="Rectangle 8">
            <a:extLst>
              <a:ext uri="{FF2B5EF4-FFF2-40B4-BE49-F238E27FC236}">
                <a16:creationId xmlns:a16="http://schemas.microsoft.com/office/drawing/2014/main" id="{CF96ADDE-76D2-AB13-72AF-7C510128869A}"/>
              </a:ext>
            </a:extLst>
          </p:cNvPr>
          <p:cNvSpPr>
            <a:spLocks noGrp="1"/>
          </p:cNvSpPr>
          <p:nvPr/>
        </p:nvSpPr>
        <p:spPr>
          <a:xfrm>
            <a:off x="7143750" y="5029200"/>
            <a:ext cx="4333875" cy="457200"/>
          </a:xfrm>
          <a:prstGeom prst="rect">
            <a:avLst/>
          </a:prstGeom>
          <a:noFill/>
          <a:ln w="0">
            <a:noFill/>
            <a:prstDash val="solid"/>
          </a:ln>
        </p:spPr>
        <p:txBody>
          <a:bodyPr lIns="57150" tIns="38100" rIns="57150" bIns="38100" anchor="t"/>
          <a:lstStyle/>
          <a:p>
            <a:pPr algn="ctr">
              <a:defRPr sz="1500" b="1">
                <a:solidFill>
                  <a:srgbClr val="7030A0"/>
                </a:solidFill>
                <a:latin typeface="Arial"/>
                <a:ea typeface="Arial"/>
                <a:cs typeface="Arial"/>
              </a:defRPr>
            </a:pPr>
            <a:r>
              <a:rPr sz="1600" b="1" dirty="0">
                <a:solidFill>
                  <a:srgbClr val="7030A0"/>
                </a:solidFill>
                <a:latin typeface="+mn-lt"/>
                <a:ea typeface="Arial"/>
                <a:cs typeface="Arial"/>
              </a:rPr>
              <a:t>36,326 images across 4 modalities</a:t>
            </a:r>
          </a:p>
        </p:txBody>
      </p:sp>
      <p:pic>
        <p:nvPicPr>
          <p:cNvPr id="11" name="Picture 10" descr="A close-up of a medical chart&#10;&#10;Description automatically generated">
            <a:extLst>
              <a:ext uri="{FF2B5EF4-FFF2-40B4-BE49-F238E27FC236}">
                <a16:creationId xmlns:a16="http://schemas.microsoft.com/office/drawing/2014/main" id="{3A516F66-D7DB-E194-8977-074710877D92}"/>
              </a:ext>
            </a:extLst>
          </p:cNvPr>
          <p:cNvPicPr>
            <a:picLocks noChangeAspect="1"/>
          </p:cNvPicPr>
          <p:nvPr/>
        </p:nvPicPr>
        <p:blipFill>
          <a:blip r:embed="rId2"/>
          <a:stretch>
            <a:fillRect/>
          </a:stretch>
        </p:blipFill>
        <p:spPr>
          <a:xfrm>
            <a:off x="56128" y="1531759"/>
            <a:ext cx="7030472" cy="3954641"/>
          </a:xfrm>
          <a:prstGeom prst="rect">
            <a:avLst/>
          </a:prstGeom>
        </p:spPr>
      </p:pic>
      <p:graphicFrame>
        <p:nvGraphicFramePr>
          <p:cNvPr id="12" name="Table 11">
            <a:extLst>
              <a:ext uri="{FF2B5EF4-FFF2-40B4-BE49-F238E27FC236}">
                <a16:creationId xmlns:a16="http://schemas.microsoft.com/office/drawing/2014/main" id="{BF748049-4B00-6A47-396C-A110EAD2B3D8}"/>
              </a:ext>
            </a:extLst>
          </p:cNvPr>
          <p:cNvGraphicFramePr/>
          <p:nvPr>
            <p:extLst>
              <p:ext uri="{D42A27DB-BD31-4B8C-83A1-F6EECF244321}">
                <p14:modId xmlns:p14="http://schemas.microsoft.com/office/powerpoint/2010/main" val="2453356019"/>
              </p:ext>
            </p:extLst>
          </p:nvPr>
        </p:nvGraphicFramePr>
        <p:xfrm>
          <a:off x="7000875" y="2057400"/>
          <a:ext cx="4619625" cy="2779158"/>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63193">
                <a:tc>
                  <a:txBody>
                    <a:bodyPr/>
                    <a:lstStyle/>
                    <a:p>
                      <a:pPr algn="ctr"/>
                      <a:r>
                        <a:rPr sz="1200" b="1" dirty="0"/>
                        <a:t>Modality</a:t>
                      </a:r>
                      <a:endParaRPr sz="1200" b="1" dirty="0">
                        <a:solidFill>
                          <a:srgbClr val="FFFFFF"/>
                        </a:solidFill>
                        <a:latin typeface="Arial"/>
                        <a:ea typeface="Arial"/>
                        <a:cs typeface="Arial"/>
                      </a:endParaRPr>
                    </a:p>
                  </a:txBody>
                  <a:tcPr marL="66675" marR="66675" marT="47625" marB="47625" anchor="ctr"/>
                </a:tc>
                <a:tc>
                  <a:txBody>
                    <a:bodyPr/>
                    <a:lstStyle/>
                    <a:p>
                      <a:pPr algn="ctr"/>
                      <a:r>
                        <a:rPr sz="1200" b="1"/>
                        <a:t>Classes</a:t>
                      </a:r>
                      <a:endParaRPr sz="1200" b="1">
                        <a:solidFill>
                          <a:srgbClr val="FFFFFF"/>
                        </a:solidFill>
                        <a:latin typeface="Arial"/>
                        <a:ea typeface="Arial"/>
                        <a:cs typeface="Arial"/>
                      </a:endParaRPr>
                    </a:p>
                  </a:txBody>
                  <a:tcPr marL="66675" marR="66675" marT="47625" marB="47625" anchor="ctr"/>
                </a:tc>
                <a:tc>
                  <a:txBody>
                    <a:bodyPr/>
                    <a:lstStyle/>
                    <a:p>
                      <a:pPr algn="ctr"/>
                      <a:r>
                        <a:rPr sz="1200" b="1" dirty="0"/>
                        <a:t>Images</a:t>
                      </a:r>
                      <a:endParaRPr sz="1200" b="1" dirty="0">
                        <a:solidFill>
                          <a:srgbClr val="FFFFFF"/>
                        </a:solidFill>
                        <a:latin typeface="Arial"/>
                        <a:ea typeface="Arial"/>
                        <a:cs typeface="Arial"/>
                      </a:endParaRPr>
                    </a:p>
                  </a:txBody>
                  <a:tcPr marL="66675" marR="66675" marT="47625" marB="47625" anchor="ctr"/>
                </a:tc>
                <a:extLst>
                  <a:ext uri="{0D108BD9-81ED-4DB2-BD59-A6C34878D82A}">
                    <a16:rowId xmlns:a16="http://schemas.microsoft.com/office/drawing/2014/main" val="10000"/>
                  </a:ext>
                </a:extLst>
              </a:tr>
              <a:tr h="463193">
                <a:tc>
                  <a:txBody>
                    <a:bodyPr/>
                    <a:lstStyle/>
                    <a:p>
                      <a:pPr algn="ctr"/>
                      <a:r>
                        <a:rPr sz="1200" dirty="0"/>
                        <a:t>Brain MRI</a:t>
                      </a:r>
                      <a:endParaRPr sz="1200" dirty="0">
                        <a:solidFill>
                          <a:srgbClr val="202020"/>
                        </a:solidFill>
                        <a:latin typeface="Arial"/>
                        <a:ea typeface="Arial"/>
                        <a:cs typeface="Arial"/>
                      </a:endParaRPr>
                    </a:p>
                  </a:txBody>
                  <a:tcPr marL="66675" marR="66675" marT="47625" marB="47625" anchor="ctr"/>
                </a:tc>
                <a:tc>
                  <a:txBody>
                    <a:bodyPr/>
                    <a:lstStyle/>
                    <a:p>
                      <a:pPr algn="ctr"/>
                      <a:r>
                        <a:rPr sz="1200"/>
                        <a:t>4</a:t>
                      </a:r>
                      <a:endParaRPr sz="1200">
                        <a:solidFill>
                          <a:srgbClr val="202020"/>
                        </a:solidFill>
                        <a:latin typeface="Arial"/>
                        <a:ea typeface="Arial"/>
                        <a:cs typeface="Arial"/>
                      </a:endParaRPr>
                    </a:p>
                  </a:txBody>
                  <a:tcPr marL="66675" marR="66675" marT="47625" marB="47625" anchor="ctr"/>
                </a:tc>
                <a:tc>
                  <a:txBody>
                    <a:bodyPr/>
                    <a:lstStyle/>
                    <a:p>
                      <a:pPr algn="ctr"/>
                      <a:r>
                        <a:rPr sz="1200"/>
                        <a:t>7,200</a:t>
                      </a:r>
                      <a:endParaRPr sz="1200">
                        <a:solidFill>
                          <a:srgbClr val="202020"/>
                        </a:solidFill>
                        <a:latin typeface="Arial"/>
                        <a:ea typeface="Arial"/>
                        <a:cs typeface="Arial"/>
                      </a:endParaRPr>
                    </a:p>
                  </a:txBody>
                  <a:tcPr marL="66675" marR="66675" marT="47625" marB="47625" anchor="ctr"/>
                </a:tc>
                <a:extLst>
                  <a:ext uri="{0D108BD9-81ED-4DB2-BD59-A6C34878D82A}">
                    <a16:rowId xmlns:a16="http://schemas.microsoft.com/office/drawing/2014/main" val="10001"/>
                  </a:ext>
                </a:extLst>
              </a:tr>
              <a:tr h="463193">
                <a:tc>
                  <a:txBody>
                    <a:bodyPr/>
                    <a:lstStyle/>
                    <a:p>
                      <a:pPr algn="ctr"/>
                      <a:r>
                        <a:rPr sz="1200" dirty="0"/>
                        <a:t>Chest X-ray</a:t>
                      </a:r>
                      <a:endParaRPr sz="1200" dirty="0">
                        <a:solidFill>
                          <a:srgbClr val="202020"/>
                        </a:solidFill>
                        <a:latin typeface="Arial"/>
                        <a:ea typeface="Arial"/>
                        <a:cs typeface="Arial"/>
                      </a:endParaRPr>
                    </a:p>
                  </a:txBody>
                  <a:tcPr marL="66675" marR="66675" marT="47625" marB="47625" anchor="ctr"/>
                </a:tc>
                <a:tc>
                  <a:txBody>
                    <a:bodyPr/>
                    <a:lstStyle/>
                    <a:p>
                      <a:pPr algn="ctr"/>
                      <a:r>
                        <a:rPr sz="1200"/>
                        <a:t>5</a:t>
                      </a:r>
                      <a:endParaRPr sz="1200">
                        <a:solidFill>
                          <a:srgbClr val="202020"/>
                        </a:solidFill>
                        <a:latin typeface="Arial"/>
                        <a:ea typeface="Arial"/>
                        <a:cs typeface="Arial"/>
                      </a:endParaRPr>
                    </a:p>
                  </a:txBody>
                  <a:tcPr marL="66675" marR="66675" marT="47625" marB="47625" anchor="ctr"/>
                </a:tc>
                <a:tc>
                  <a:txBody>
                    <a:bodyPr/>
                    <a:lstStyle/>
                    <a:p>
                      <a:pPr algn="ctr"/>
                      <a:r>
                        <a:rPr sz="1200" dirty="0"/>
                        <a:t>10,095</a:t>
                      </a:r>
                      <a:endParaRPr sz="1200" dirty="0">
                        <a:solidFill>
                          <a:srgbClr val="202020"/>
                        </a:solidFill>
                        <a:latin typeface="Arial"/>
                        <a:ea typeface="Arial"/>
                        <a:cs typeface="Arial"/>
                      </a:endParaRPr>
                    </a:p>
                  </a:txBody>
                  <a:tcPr marL="66675" marR="66675" marT="47625" marB="47625" anchor="ctr"/>
                </a:tc>
                <a:extLst>
                  <a:ext uri="{0D108BD9-81ED-4DB2-BD59-A6C34878D82A}">
                    <a16:rowId xmlns:a16="http://schemas.microsoft.com/office/drawing/2014/main" val="10002"/>
                  </a:ext>
                </a:extLst>
              </a:tr>
              <a:tr h="463193">
                <a:tc>
                  <a:txBody>
                    <a:bodyPr/>
                    <a:lstStyle/>
                    <a:p>
                      <a:pPr algn="ctr"/>
                      <a:r>
                        <a:rPr sz="1200"/>
                        <a:t>Breast Ultrasound</a:t>
                      </a:r>
                      <a:endParaRPr sz="1200">
                        <a:solidFill>
                          <a:srgbClr val="202020"/>
                        </a:solidFill>
                        <a:latin typeface="Arial"/>
                        <a:ea typeface="Arial"/>
                        <a:cs typeface="Arial"/>
                      </a:endParaRPr>
                    </a:p>
                  </a:txBody>
                  <a:tcPr marL="66675" marR="66675" marT="47625" marB="47625" anchor="ctr"/>
                </a:tc>
                <a:tc>
                  <a:txBody>
                    <a:bodyPr/>
                    <a:lstStyle/>
                    <a:p>
                      <a:pPr algn="ctr"/>
                      <a:r>
                        <a:rPr sz="1200"/>
                        <a:t>2</a:t>
                      </a:r>
                      <a:endParaRPr sz="1200">
                        <a:solidFill>
                          <a:srgbClr val="202020"/>
                        </a:solidFill>
                        <a:latin typeface="Arial"/>
                        <a:ea typeface="Arial"/>
                        <a:cs typeface="Arial"/>
                      </a:endParaRPr>
                    </a:p>
                  </a:txBody>
                  <a:tcPr marL="66675" marR="66675" marT="47625" marB="47625" anchor="ctr"/>
                </a:tc>
                <a:tc>
                  <a:txBody>
                    <a:bodyPr/>
                    <a:lstStyle/>
                    <a:p>
                      <a:pPr algn="ctr"/>
                      <a:r>
                        <a:rPr sz="1200"/>
                        <a:t>9,016</a:t>
                      </a:r>
                      <a:endParaRPr sz="1200">
                        <a:solidFill>
                          <a:srgbClr val="202020"/>
                        </a:solidFill>
                        <a:latin typeface="Arial"/>
                        <a:ea typeface="Arial"/>
                        <a:cs typeface="Arial"/>
                      </a:endParaRPr>
                    </a:p>
                  </a:txBody>
                  <a:tcPr marL="66675" marR="66675" marT="47625" marB="47625" anchor="ctr"/>
                </a:tc>
                <a:extLst>
                  <a:ext uri="{0D108BD9-81ED-4DB2-BD59-A6C34878D82A}">
                    <a16:rowId xmlns:a16="http://schemas.microsoft.com/office/drawing/2014/main" val="10003"/>
                  </a:ext>
                </a:extLst>
              </a:tr>
              <a:tr h="463193">
                <a:tc>
                  <a:txBody>
                    <a:bodyPr/>
                    <a:lstStyle/>
                    <a:p>
                      <a:pPr algn="ctr"/>
                      <a:r>
                        <a:rPr sz="1200"/>
                        <a:t>Dermoscopy</a:t>
                      </a:r>
                      <a:endParaRPr sz="1200">
                        <a:solidFill>
                          <a:srgbClr val="202020"/>
                        </a:solidFill>
                        <a:latin typeface="Arial"/>
                        <a:ea typeface="Arial"/>
                        <a:cs typeface="Arial"/>
                      </a:endParaRPr>
                    </a:p>
                  </a:txBody>
                  <a:tcPr marL="66675" marR="66675" marT="47625" marB="47625" anchor="ctr"/>
                </a:tc>
                <a:tc>
                  <a:txBody>
                    <a:bodyPr/>
                    <a:lstStyle/>
                    <a:p>
                      <a:pPr algn="ctr"/>
                      <a:r>
                        <a:rPr sz="1200"/>
                        <a:t>7</a:t>
                      </a:r>
                      <a:endParaRPr sz="1200">
                        <a:solidFill>
                          <a:srgbClr val="202020"/>
                        </a:solidFill>
                        <a:latin typeface="Arial"/>
                        <a:ea typeface="Arial"/>
                        <a:cs typeface="Arial"/>
                      </a:endParaRPr>
                    </a:p>
                  </a:txBody>
                  <a:tcPr marL="66675" marR="66675" marT="47625" marB="47625" anchor="ctr"/>
                </a:tc>
                <a:tc>
                  <a:txBody>
                    <a:bodyPr/>
                    <a:lstStyle/>
                    <a:p>
                      <a:pPr algn="ctr"/>
                      <a:r>
                        <a:rPr sz="1200"/>
                        <a:t>10,015</a:t>
                      </a:r>
                      <a:endParaRPr sz="1200">
                        <a:solidFill>
                          <a:srgbClr val="202020"/>
                        </a:solidFill>
                        <a:latin typeface="Arial"/>
                        <a:ea typeface="Arial"/>
                        <a:cs typeface="Arial"/>
                      </a:endParaRPr>
                    </a:p>
                  </a:txBody>
                  <a:tcPr marL="66675" marR="66675" marT="47625" marB="47625" anchor="ctr"/>
                </a:tc>
                <a:extLst>
                  <a:ext uri="{0D108BD9-81ED-4DB2-BD59-A6C34878D82A}">
                    <a16:rowId xmlns:a16="http://schemas.microsoft.com/office/drawing/2014/main" val="10004"/>
                  </a:ext>
                </a:extLst>
              </a:tr>
              <a:tr h="463193">
                <a:tc>
                  <a:txBody>
                    <a:bodyPr/>
                    <a:lstStyle/>
                    <a:p>
                      <a:pPr algn="ctr"/>
                      <a:r>
                        <a:rPr sz="1275" dirty="0"/>
                        <a:t>Total</a:t>
                      </a:r>
                      <a:endParaRPr sz="1275" b="1" dirty="0">
                        <a:solidFill>
                          <a:srgbClr val="1F5C67"/>
                        </a:solidFill>
                        <a:latin typeface="Arial"/>
                        <a:ea typeface="Arial"/>
                        <a:cs typeface="Arial"/>
                      </a:endParaRPr>
                    </a:p>
                  </a:txBody>
                  <a:tcPr marL="66675" marR="66675" marT="47625" marB="47625" anchor="ctr"/>
                </a:tc>
                <a:tc>
                  <a:txBody>
                    <a:bodyPr/>
                    <a:lstStyle/>
                    <a:p>
                      <a:pPr algn="ctr"/>
                      <a:r>
                        <a:rPr sz="1275"/>
                        <a:t>18</a:t>
                      </a:r>
                      <a:endParaRPr sz="1275" b="1">
                        <a:solidFill>
                          <a:srgbClr val="1F5C67"/>
                        </a:solidFill>
                        <a:latin typeface="Arial"/>
                        <a:ea typeface="Arial"/>
                        <a:cs typeface="Arial"/>
                      </a:endParaRPr>
                    </a:p>
                  </a:txBody>
                  <a:tcPr marL="66675" marR="66675" marT="47625" marB="47625" anchor="ctr"/>
                </a:tc>
                <a:tc>
                  <a:txBody>
                    <a:bodyPr/>
                    <a:lstStyle/>
                    <a:p>
                      <a:pPr algn="ctr"/>
                      <a:r>
                        <a:rPr sz="1275" dirty="0"/>
                        <a:t>36,326</a:t>
                      </a:r>
                      <a:endParaRPr sz="1275" b="1" dirty="0">
                        <a:solidFill>
                          <a:srgbClr val="1F5C67"/>
                        </a:solidFill>
                        <a:latin typeface="Arial"/>
                        <a:ea typeface="Arial"/>
                        <a:cs typeface="Arial"/>
                      </a:endParaRPr>
                    </a:p>
                  </a:txBody>
                  <a:tcPr marL="66675" marR="66675" marT="47625" marB="47625"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6345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CDAEB-3C93-0127-7412-10424D9BC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19841-1302-F1DC-6431-BA4997E6CD1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F8AC6193-FA2C-36CF-5C07-50755C865C56}"/>
              </a:ext>
            </a:extLst>
          </p:cNvPr>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9</a:t>
            </a:fld>
            <a:endParaRPr lang="en-US" dirty="0"/>
          </a:p>
        </p:txBody>
      </p:sp>
      <p:pic>
        <p:nvPicPr>
          <p:cNvPr id="3" name="Picture 2">
            <a:extLst>
              <a:ext uri="{FF2B5EF4-FFF2-40B4-BE49-F238E27FC236}">
                <a16:creationId xmlns:a16="http://schemas.microsoft.com/office/drawing/2014/main" id="{48C7EB22-A21B-EA65-F48B-8B17141C9131}"/>
              </a:ext>
            </a:extLst>
          </p:cNvPr>
          <p:cNvPicPr>
            <a:picLocks noChangeAspect="1"/>
          </p:cNvPicPr>
          <p:nvPr/>
        </p:nvPicPr>
        <p:blipFill>
          <a:blip r:embed="rId2"/>
          <a:srcRect r="50000"/>
          <a:stretch>
            <a:fillRect/>
          </a:stretch>
        </p:blipFill>
        <p:spPr>
          <a:xfrm>
            <a:off x="914400" y="1600200"/>
            <a:ext cx="4515387" cy="3352800"/>
          </a:xfrm>
          <a:prstGeom prst="rect">
            <a:avLst/>
          </a:prstGeom>
        </p:spPr>
      </p:pic>
      <p:sp>
        <p:nvSpPr>
          <p:cNvPr id="16" name="TextBox 15">
            <a:extLst>
              <a:ext uri="{FF2B5EF4-FFF2-40B4-BE49-F238E27FC236}">
                <a16:creationId xmlns:a16="http://schemas.microsoft.com/office/drawing/2014/main" id="{E6B8D103-1C68-502D-1B5C-4F5578FEC841}"/>
              </a:ext>
            </a:extLst>
          </p:cNvPr>
          <p:cNvSpPr txBox="1"/>
          <p:nvPr/>
        </p:nvSpPr>
        <p:spPr>
          <a:xfrm>
            <a:off x="7045874" y="1330896"/>
            <a:ext cx="3413114" cy="269304"/>
          </a:xfrm>
          <a:prstGeom prst="rect">
            <a:avLst/>
          </a:prstGeom>
          <a:noFill/>
        </p:spPr>
        <p:txBody>
          <a:bodyPr wrap="none">
            <a:spAutoFit/>
          </a:bodyPr>
          <a:lstStyle/>
          <a:p>
            <a:pPr>
              <a:defRPr sz="1150" b="1">
                <a:solidFill>
                  <a:srgbClr val="0A2540"/>
                </a:solidFill>
              </a:defRPr>
            </a:pPr>
            <a:r>
              <a:rPr dirty="0"/>
              <a:t>Class Weighting and Loss-Function Ablation</a:t>
            </a:r>
          </a:p>
        </p:txBody>
      </p:sp>
      <p:graphicFrame>
        <p:nvGraphicFramePr>
          <p:cNvPr id="17" name="Table 16">
            <a:extLst>
              <a:ext uri="{FF2B5EF4-FFF2-40B4-BE49-F238E27FC236}">
                <a16:creationId xmlns:a16="http://schemas.microsoft.com/office/drawing/2014/main" id="{E8E869A4-F948-704E-AC6C-E29F7EDD90E1}"/>
              </a:ext>
            </a:extLst>
          </p:cNvPr>
          <p:cNvGraphicFramePr>
            <a:graphicFrameLocks noGrp="1"/>
          </p:cNvGraphicFramePr>
          <p:nvPr>
            <p:extLst>
              <p:ext uri="{D42A27DB-BD31-4B8C-83A1-F6EECF244321}">
                <p14:modId xmlns:p14="http://schemas.microsoft.com/office/powerpoint/2010/main" val="198724958"/>
              </p:ext>
            </p:extLst>
          </p:nvPr>
        </p:nvGraphicFramePr>
        <p:xfrm>
          <a:off x="6019801" y="1657561"/>
          <a:ext cx="5181599" cy="3045492"/>
        </p:xfrm>
        <a:graphic>
          <a:graphicData uri="http://schemas.openxmlformats.org/drawingml/2006/table">
            <a:tbl>
              <a:tblPr firstRow="1" bandRow="1">
                <a:tableStyleId>{5C22544A-7EE6-4342-B048-85BDC9FD1C3A}</a:tableStyleId>
              </a:tblPr>
              <a:tblGrid>
                <a:gridCol w="1839024">
                  <a:extLst>
                    <a:ext uri="{9D8B030D-6E8A-4147-A177-3AD203B41FA5}">
                      <a16:colId xmlns:a16="http://schemas.microsoft.com/office/drawing/2014/main" val="20000"/>
                    </a:ext>
                  </a:extLst>
                </a:gridCol>
                <a:gridCol w="980375">
                  <a:extLst>
                    <a:ext uri="{9D8B030D-6E8A-4147-A177-3AD203B41FA5}">
                      <a16:colId xmlns:a16="http://schemas.microsoft.com/office/drawing/2014/main" val="20001"/>
                    </a:ext>
                  </a:extLst>
                </a:gridCol>
                <a:gridCol w="1000113">
                  <a:extLst>
                    <a:ext uri="{9D8B030D-6E8A-4147-A177-3AD203B41FA5}">
                      <a16:colId xmlns:a16="http://schemas.microsoft.com/office/drawing/2014/main" val="20002"/>
                    </a:ext>
                  </a:extLst>
                </a:gridCol>
                <a:gridCol w="1362087">
                  <a:extLst>
                    <a:ext uri="{9D8B030D-6E8A-4147-A177-3AD203B41FA5}">
                      <a16:colId xmlns:a16="http://schemas.microsoft.com/office/drawing/2014/main" val="20003"/>
                    </a:ext>
                  </a:extLst>
                </a:gridCol>
              </a:tblGrid>
              <a:tr h="499508">
                <a:tc>
                  <a:txBody>
                    <a:bodyPr/>
                    <a:lstStyle/>
                    <a:p>
                      <a:pPr>
                        <a:defRPr sz="950" b="1">
                          <a:solidFill>
                            <a:srgbClr val="FFFFFF"/>
                          </a:solidFill>
                        </a:defRPr>
                      </a:pPr>
                      <a:r>
                        <a:rPr sz="1600" dirty="0"/>
                        <a:t>Configuration</a:t>
                      </a:r>
                    </a:p>
                  </a:txBody>
                  <a:tcPr/>
                </a:tc>
                <a:tc>
                  <a:txBody>
                    <a:bodyPr/>
                    <a:lstStyle/>
                    <a:p>
                      <a:pPr algn="ctr">
                        <a:defRPr sz="950" b="1">
                          <a:solidFill>
                            <a:srgbClr val="FFFFFF"/>
                          </a:solidFill>
                        </a:defRPr>
                      </a:pPr>
                      <a:r>
                        <a:rPr sz="1600"/>
                        <a:t>Accuracy</a:t>
                      </a:r>
                    </a:p>
                  </a:txBody>
                  <a:tcPr/>
                </a:tc>
                <a:tc>
                  <a:txBody>
                    <a:bodyPr/>
                    <a:lstStyle/>
                    <a:p>
                      <a:pPr algn="ctr">
                        <a:defRPr sz="950" b="1">
                          <a:solidFill>
                            <a:srgbClr val="FFFFFF"/>
                          </a:solidFill>
                        </a:defRPr>
                      </a:pPr>
                      <a:r>
                        <a:rPr sz="1600"/>
                        <a:t>Macro-F1</a:t>
                      </a:r>
                    </a:p>
                  </a:txBody>
                  <a:tcPr/>
                </a:tc>
                <a:tc>
                  <a:txBody>
                    <a:bodyPr/>
                    <a:lstStyle/>
                    <a:p>
                      <a:pPr algn="ctr">
                        <a:defRPr sz="950" b="1">
                          <a:solidFill>
                            <a:srgbClr val="FFFFFF"/>
                          </a:solidFill>
                        </a:defRPr>
                      </a:pPr>
                      <a:r>
                        <a:rPr sz="1600"/>
                        <a:t>Dermoscopy</a:t>
                      </a:r>
                    </a:p>
                  </a:txBody>
                  <a:tcPr/>
                </a:tc>
                <a:extLst>
                  <a:ext uri="{0D108BD9-81ED-4DB2-BD59-A6C34878D82A}">
                    <a16:rowId xmlns:a16="http://schemas.microsoft.com/office/drawing/2014/main" val="10000"/>
                  </a:ext>
                </a:extLst>
              </a:tr>
              <a:tr h="490733">
                <a:tc>
                  <a:txBody>
                    <a:bodyPr/>
                    <a:lstStyle/>
                    <a:p>
                      <a:pPr>
                        <a:defRPr sz="880" b="1">
                          <a:solidFill>
                            <a:srgbClr val="0A2540"/>
                          </a:solidFill>
                        </a:defRPr>
                      </a:pPr>
                      <a:r>
                        <a:rPr sz="1400"/>
                        <a:t>Square-root balanced weighting</a:t>
                      </a:r>
                    </a:p>
                  </a:txBody>
                  <a:tcPr/>
                </a:tc>
                <a:tc>
                  <a:txBody>
                    <a:bodyPr/>
                    <a:lstStyle/>
                    <a:p>
                      <a:pPr algn="ctr">
                        <a:defRPr sz="880" b="1">
                          <a:solidFill>
                            <a:srgbClr val="10B981"/>
                          </a:solidFill>
                        </a:defRPr>
                      </a:pPr>
                      <a:r>
                        <a:rPr sz="1400" dirty="0">
                          <a:solidFill>
                            <a:schemeClr val="tx1"/>
                          </a:solidFill>
                        </a:rPr>
                        <a:t>0.9127</a:t>
                      </a:r>
                    </a:p>
                  </a:txBody>
                  <a:tcPr/>
                </a:tc>
                <a:tc>
                  <a:txBody>
                    <a:bodyPr/>
                    <a:lstStyle/>
                    <a:p>
                      <a:pPr algn="ctr">
                        <a:defRPr sz="880" b="1">
                          <a:solidFill>
                            <a:srgbClr val="10B981"/>
                          </a:solidFill>
                        </a:defRPr>
                      </a:pPr>
                      <a:r>
                        <a:rPr sz="1400">
                          <a:solidFill>
                            <a:schemeClr val="tx1"/>
                          </a:solidFill>
                        </a:rPr>
                        <a:t>0.8100</a:t>
                      </a:r>
                    </a:p>
                  </a:txBody>
                  <a:tcPr/>
                </a:tc>
                <a:tc>
                  <a:txBody>
                    <a:bodyPr/>
                    <a:lstStyle/>
                    <a:p>
                      <a:pPr algn="ctr">
                        <a:defRPr sz="880" b="1">
                          <a:solidFill>
                            <a:srgbClr val="10B981"/>
                          </a:solidFill>
                        </a:defRPr>
                      </a:pPr>
                      <a:r>
                        <a:rPr sz="1400" dirty="0">
                          <a:solidFill>
                            <a:schemeClr val="tx1"/>
                          </a:solidFill>
                        </a:rPr>
                        <a:t>0.8123</a:t>
                      </a:r>
                    </a:p>
                  </a:txBody>
                  <a:tcPr/>
                </a:tc>
                <a:extLst>
                  <a:ext uri="{0D108BD9-81ED-4DB2-BD59-A6C34878D82A}">
                    <a16:rowId xmlns:a16="http://schemas.microsoft.com/office/drawing/2014/main" val="10001"/>
                  </a:ext>
                </a:extLst>
              </a:tr>
              <a:tr h="377416">
                <a:tc>
                  <a:txBody>
                    <a:bodyPr/>
                    <a:lstStyle/>
                    <a:p>
                      <a:pPr>
                        <a:defRPr sz="880">
                          <a:solidFill>
                            <a:srgbClr val="1E293B"/>
                          </a:solidFill>
                        </a:defRPr>
                      </a:pPr>
                      <a:r>
                        <a:rPr sz="1400"/>
                        <a:t>Label smoothing</a:t>
                      </a:r>
                    </a:p>
                  </a:txBody>
                  <a:tcPr/>
                </a:tc>
                <a:tc>
                  <a:txBody>
                    <a:bodyPr/>
                    <a:lstStyle/>
                    <a:p>
                      <a:pPr algn="ctr">
                        <a:defRPr sz="880">
                          <a:solidFill>
                            <a:srgbClr val="1E293B"/>
                          </a:solidFill>
                        </a:defRPr>
                      </a:pPr>
                      <a:r>
                        <a:rPr sz="1400"/>
                        <a:t>0.9068</a:t>
                      </a:r>
                    </a:p>
                  </a:txBody>
                  <a:tcPr/>
                </a:tc>
                <a:tc>
                  <a:txBody>
                    <a:bodyPr/>
                    <a:lstStyle/>
                    <a:p>
                      <a:pPr algn="ctr">
                        <a:defRPr sz="880">
                          <a:solidFill>
                            <a:srgbClr val="1E293B"/>
                          </a:solidFill>
                        </a:defRPr>
                      </a:pPr>
                      <a:r>
                        <a:rPr sz="1400"/>
                        <a:t>0.8310</a:t>
                      </a:r>
                    </a:p>
                  </a:txBody>
                  <a:tcPr/>
                </a:tc>
                <a:tc>
                  <a:txBody>
                    <a:bodyPr/>
                    <a:lstStyle/>
                    <a:p>
                      <a:pPr algn="ctr">
                        <a:defRPr sz="880">
                          <a:solidFill>
                            <a:srgbClr val="1E293B"/>
                          </a:solidFill>
                        </a:defRPr>
                      </a:pPr>
                      <a:r>
                        <a:rPr sz="1400"/>
                        <a:t>0.7903</a:t>
                      </a:r>
                    </a:p>
                  </a:txBody>
                  <a:tcPr/>
                </a:tc>
                <a:extLst>
                  <a:ext uri="{0D108BD9-81ED-4DB2-BD59-A6C34878D82A}">
                    <a16:rowId xmlns:a16="http://schemas.microsoft.com/office/drawing/2014/main" val="10002"/>
                  </a:ext>
                </a:extLst>
              </a:tr>
              <a:tr h="377416">
                <a:tc>
                  <a:txBody>
                    <a:bodyPr/>
                    <a:lstStyle/>
                    <a:p>
                      <a:pPr>
                        <a:defRPr sz="880">
                          <a:solidFill>
                            <a:srgbClr val="1E293B"/>
                          </a:solidFill>
                        </a:defRPr>
                      </a:pPr>
                      <a:r>
                        <a:rPr sz="1400" dirty="0"/>
                        <a:t>No weighting</a:t>
                      </a:r>
                    </a:p>
                  </a:txBody>
                  <a:tcPr/>
                </a:tc>
                <a:tc>
                  <a:txBody>
                    <a:bodyPr/>
                    <a:lstStyle/>
                    <a:p>
                      <a:pPr algn="ctr">
                        <a:defRPr sz="880">
                          <a:solidFill>
                            <a:srgbClr val="1E293B"/>
                          </a:solidFill>
                        </a:defRPr>
                      </a:pPr>
                      <a:r>
                        <a:rPr sz="1400"/>
                        <a:t>0.9017</a:t>
                      </a:r>
                    </a:p>
                  </a:txBody>
                  <a:tcPr/>
                </a:tc>
                <a:tc>
                  <a:txBody>
                    <a:bodyPr/>
                    <a:lstStyle/>
                    <a:p>
                      <a:pPr algn="ctr">
                        <a:defRPr sz="880">
                          <a:solidFill>
                            <a:srgbClr val="1E293B"/>
                          </a:solidFill>
                        </a:defRPr>
                      </a:pPr>
                      <a:r>
                        <a:rPr sz="1400"/>
                        <a:t>0.7620</a:t>
                      </a:r>
                    </a:p>
                  </a:txBody>
                  <a:tcPr/>
                </a:tc>
                <a:tc>
                  <a:txBody>
                    <a:bodyPr/>
                    <a:lstStyle/>
                    <a:p>
                      <a:pPr algn="ctr">
                        <a:defRPr sz="880">
                          <a:solidFill>
                            <a:srgbClr val="1E293B"/>
                          </a:solidFill>
                        </a:defRPr>
                      </a:pPr>
                      <a:r>
                        <a:rPr sz="1400"/>
                        <a:t>0.7903</a:t>
                      </a:r>
                    </a:p>
                  </a:txBody>
                  <a:tcPr/>
                </a:tc>
                <a:extLst>
                  <a:ext uri="{0D108BD9-81ED-4DB2-BD59-A6C34878D82A}">
                    <a16:rowId xmlns:a16="http://schemas.microsoft.com/office/drawing/2014/main" val="10003"/>
                  </a:ext>
                </a:extLst>
              </a:tr>
              <a:tr h="377416">
                <a:tc>
                  <a:txBody>
                    <a:bodyPr/>
                    <a:lstStyle/>
                    <a:p>
                      <a:pPr>
                        <a:defRPr sz="880">
                          <a:solidFill>
                            <a:srgbClr val="1E293B"/>
                          </a:solidFill>
                        </a:defRPr>
                      </a:pPr>
                      <a:r>
                        <a:rPr sz="1400"/>
                        <a:t>Balanced weighting</a:t>
                      </a:r>
                    </a:p>
                  </a:txBody>
                  <a:tcPr/>
                </a:tc>
                <a:tc>
                  <a:txBody>
                    <a:bodyPr/>
                    <a:lstStyle/>
                    <a:p>
                      <a:pPr algn="ctr">
                        <a:defRPr sz="880">
                          <a:solidFill>
                            <a:srgbClr val="1E293B"/>
                          </a:solidFill>
                        </a:defRPr>
                      </a:pPr>
                      <a:r>
                        <a:rPr sz="1400" dirty="0"/>
                        <a:t>0.8941</a:t>
                      </a:r>
                    </a:p>
                  </a:txBody>
                  <a:tcPr/>
                </a:tc>
                <a:tc>
                  <a:txBody>
                    <a:bodyPr/>
                    <a:lstStyle/>
                    <a:p>
                      <a:pPr algn="ctr">
                        <a:defRPr sz="880">
                          <a:solidFill>
                            <a:srgbClr val="1E293B"/>
                          </a:solidFill>
                        </a:defRPr>
                      </a:pPr>
                      <a:r>
                        <a:rPr sz="1400" dirty="0"/>
                        <a:t>0.8227</a:t>
                      </a:r>
                    </a:p>
                  </a:txBody>
                  <a:tcPr/>
                </a:tc>
                <a:tc>
                  <a:txBody>
                    <a:bodyPr/>
                    <a:lstStyle/>
                    <a:p>
                      <a:pPr algn="ctr">
                        <a:defRPr sz="880">
                          <a:solidFill>
                            <a:srgbClr val="1E293B"/>
                          </a:solidFill>
                        </a:defRPr>
                      </a:pPr>
                      <a:r>
                        <a:rPr sz="1400"/>
                        <a:t>0.7523</a:t>
                      </a:r>
                    </a:p>
                  </a:txBody>
                  <a:tcPr/>
                </a:tc>
                <a:extLst>
                  <a:ext uri="{0D108BD9-81ED-4DB2-BD59-A6C34878D82A}">
                    <a16:rowId xmlns:a16="http://schemas.microsoft.com/office/drawing/2014/main" val="10004"/>
                  </a:ext>
                </a:extLst>
              </a:tr>
              <a:tr h="377416">
                <a:tc>
                  <a:txBody>
                    <a:bodyPr/>
                    <a:lstStyle/>
                    <a:p>
                      <a:pPr>
                        <a:defRPr sz="880">
                          <a:solidFill>
                            <a:srgbClr val="1E293B"/>
                          </a:solidFill>
                        </a:defRPr>
                      </a:pPr>
                      <a:r>
                        <a:rPr sz="1400"/>
                        <a:t>Focal loss</a:t>
                      </a:r>
                    </a:p>
                  </a:txBody>
                  <a:tcPr/>
                </a:tc>
                <a:tc>
                  <a:txBody>
                    <a:bodyPr/>
                    <a:lstStyle/>
                    <a:p>
                      <a:pPr algn="ctr">
                        <a:defRPr sz="880">
                          <a:solidFill>
                            <a:srgbClr val="DC2626"/>
                          </a:solidFill>
                        </a:defRPr>
                      </a:pPr>
                      <a:r>
                        <a:rPr sz="1400"/>
                        <a:t>0.4722</a:t>
                      </a:r>
                    </a:p>
                  </a:txBody>
                  <a:tcPr/>
                </a:tc>
                <a:tc>
                  <a:txBody>
                    <a:bodyPr/>
                    <a:lstStyle/>
                    <a:p>
                      <a:pPr algn="ctr">
                        <a:defRPr sz="880">
                          <a:solidFill>
                            <a:srgbClr val="DC2626"/>
                          </a:solidFill>
                        </a:defRPr>
                      </a:pPr>
                      <a:r>
                        <a:rPr sz="1400"/>
                        <a:t>0.1694</a:t>
                      </a:r>
                    </a:p>
                  </a:txBody>
                  <a:tcPr/>
                </a:tc>
                <a:tc>
                  <a:txBody>
                    <a:bodyPr/>
                    <a:lstStyle/>
                    <a:p>
                      <a:pPr algn="ctr">
                        <a:defRPr sz="880">
                          <a:solidFill>
                            <a:srgbClr val="DC2626"/>
                          </a:solidFill>
                        </a:defRPr>
                      </a:pPr>
                      <a:r>
                        <a:rPr sz="1400"/>
                        <a:t>0.6697</a:t>
                      </a:r>
                    </a:p>
                  </a:txBody>
                  <a:tcPr/>
                </a:tc>
                <a:extLst>
                  <a:ext uri="{0D108BD9-81ED-4DB2-BD59-A6C34878D82A}">
                    <a16:rowId xmlns:a16="http://schemas.microsoft.com/office/drawing/2014/main" val="10005"/>
                  </a:ext>
                </a:extLst>
              </a:tr>
              <a:tr h="490733">
                <a:tc>
                  <a:txBody>
                    <a:bodyPr/>
                    <a:lstStyle/>
                    <a:p>
                      <a:pPr>
                        <a:defRPr sz="880">
                          <a:solidFill>
                            <a:srgbClr val="1E293B"/>
                          </a:solidFill>
                        </a:defRPr>
                      </a:pPr>
                      <a:r>
                        <a:rPr sz="1400"/>
                        <a:t>Kullback–Leibler divergence</a:t>
                      </a:r>
                    </a:p>
                  </a:txBody>
                  <a:tcPr/>
                </a:tc>
                <a:tc>
                  <a:txBody>
                    <a:bodyPr/>
                    <a:lstStyle/>
                    <a:p>
                      <a:pPr algn="ctr">
                        <a:defRPr sz="880">
                          <a:solidFill>
                            <a:srgbClr val="DC2626"/>
                          </a:solidFill>
                        </a:defRPr>
                      </a:pPr>
                      <a:r>
                        <a:rPr sz="1400"/>
                        <a:t>0.4711</a:t>
                      </a:r>
                    </a:p>
                  </a:txBody>
                  <a:tcPr/>
                </a:tc>
                <a:tc>
                  <a:txBody>
                    <a:bodyPr/>
                    <a:lstStyle/>
                    <a:p>
                      <a:pPr algn="ctr">
                        <a:defRPr sz="880">
                          <a:solidFill>
                            <a:srgbClr val="DC2626"/>
                          </a:solidFill>
                        </a:defRPr>
                      </a:pPr>
                      <a:r>
                        <a:rPr sz="1400" dirty="0"/>
                        <a:t>0.1766</a:t>
                      </a:r>
                    </a:p>
                  </a:txBody>
                  <a:tcPr/>
                </a:tc>
                <a:tc>
                  <a:txBody>
                    <a:bodyPr/>
                    <a:lstStyle/>
                    <a:p>
                      <a:pPr algn="ctr">
                        <a:defRPr sz="880">
                          <a:solidFill>
                            <a:srgbClr val="DC2626"/>
                          </a:solidFill>
                        </a:defRPr>
                      </a:pPr>
                      <a:r>
                        <a:rPr sz="1400" dirty="0"/>
                        <a:t>0.6692</a:t>
                      </a:r>
                    </a:p>
                  </a:txBody>
                  <a:tcPr/>
                </a:tc>
                <a:extLst>
                  <a:ext uri="{0D108BD9-81ED-4DB2-BD59-A6C34878D82A}">
                    <a16:rowId xmlns:a16="http://schemas.microsoft.com/office/drawing/2014/main" val="10006"/>
                  </a:ext>
                </a:extLst>
              </a:tr>
            </a:tbl>
          </a:graphicData>
        </a:graphic>
      </p:graphicFrame>
      <p:sp>
        <p:nvSpPr>
          <p:cNvPr id="18" name="TextBox 17">
            <a:extLst>
              <a:ext uri="{FF2B5EF4-FFF2-40B4-BE49-F238E27FC236}">
                <a16:creationId xmlns:a16="http://schemas.microsoft.com/office/drawing/2014/main" id="{FA8E1626-2761-4B8F-85CF-147D5E62552B}"/>
              </a:ext>
            </a:extLst>
          </p:cNvPr>
          <p:cNvSpPr txBox="1"/>
          <p:nvPr/>
        </p:nvSpPr>
        <p:spPr>
          <a:xfrm>
            <a:off x="1676400" y="1371600"/>
            <a:ext cx="3413114" cy="269304"/>
          </a:xfrm>
          <a:prstGeom prst="rect">
            <a:avLst/>
          </a:prstGeom>
          <a:noFill/>
        </p:spPr>
        <p:txBody>
          <a:bodyPr wrap="square">
            <a:spAutoFit/>
          </a:bodyPr>
          <a:lstStyle/>
          <a:p>
            <a:r>
              <a:rPr lang="en-US" sz="1150" b="1" dirty="0"/>
              <a:t>Candidate Backbone Benchmark (11 Models)</a:t>
            </a:r>
          </a:p>
        </p:txBody>
      </p:sp>
      <p:sp>
        <p:nvSpPr>
          <p:cNvPr id="19" name="Rounded Rectangle 10">
            <a:extLst>
              <a:ext uri="{FF2B5EF4-FFF2-40B4-BE49-F238E27FC236}">
                <a16:creationId xmlns:a16="http://schemas.microsoft.com/office/drawing/2014/main" id="{712252CF-4F30-EF1F-A8BB-0C69EC4F59AC}"/>
              </a:ext>
            </a:extLst>
          </p:cNvPr>
          <p:cNvSpPr/>
          <p:nvPr/>
        </p:nvSpPr>
        <p:spPr>
          <a:xfrm>
            <a:off x="701345" y="5105400"/>
            <a:ext cx="10728655" cy="841248"/>
          </a:xfrm>
          <a:prstGeom prst="roundRect">
            <a:avLst/>
          </a:prstGeom>
          <a:solidFill>
            <a:srgbClr val="EEF6FF"/>
          </a:solidFill>
          <a:ln w="15240">
            <a:solidFill>
              <a:srgbClr val="005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ECD7D7D6-E6F2-A6C6-B164-F54DCC018EB5}"/>
              </a:ext>
            </a:extLst>
          </p:cNvPr>
          <p:cNvSpPr txBox="1"/>
          <p:nvPr/>
        </p:nvSpPr>
        <p:spPr>
          <a:xfrm>
            <a:off x="767137" y="5181600"/>
            <a:ext cx="10723518" cy="646331"/>
          </a:xfrm>
          <a:prstGeom prst="rect">
            <a:avLst/>
          </a:prstGeom>
          <a:noFill/>
        </p:spPr>
        <p:txBody>
          <a:bodyPr wrap="square">
            <a:spAutoFit/>
          </a:bodyPr>
          <a:lstStyle/>
          <a:p>
            <a:pPr>
              <a:defRPr sz="980" b="1">
                <a:solidFill>
                  <a:srgbClr val="0A2540"/>
                </a:solidFill>
              </a:defRPr>
            </a:pPr>
            <a:r>
              <a:rPr sz="1200" dirty="0">
                <a:latin typeface="+mn-lt"/>
              </a:rPr>
              <a:t>• Square-Root Weighting Selected: Achieved top accuracy (0.9127) and top </a:t>
            </a:r>
            <a:r>
              <a:rPr sz="1200" dirty="0" err="1">
                <a:latin typeface="+mn-lt"/>
              </a:rPr>
              <a:t>dermoscopy</a:t>
            </a:r>
            <a:r>
              <a:rPr sz="1200" dirty="0">
                <a:latin typeface="+mn-lt"/>
              </a:rPr>
              <a:t> performance (0.8123), balancing severe lesion imbalance.</a:t>
            </a:r>
          </a:p>
          <a:p>
            <a:pPr>
              <a:defRPr sz="980">
                <a:solidFill>
                  <a:srgbClr val="1E293B"/>
                </a:solidFill>
              </a:defRPr>
            </a:pPr>
            <a:r>
              <a:rPr sz="1200" dirty="0">
                <a:latin typeface="+mn-lt"/>
              </a:rPr>
              <a:t>• Catastrophic Loss Collapse: Focal loss and KL divergence completely collapsed on the 18-class corpus (accuracy dropped to ~0.47; MRI collapsed to 0.25 chance).</a:t>
            </a:r>
          </a:p>
          <a:p>
            <a:pPr>
              <a:defRPr sz="980">
                <a:solidFill>
                  <a:srgbClr val="1E293B"/>
                </a:solidFill>
              </a:defRPr>
            </a:pPr>
            <a:r>
              <a:rPr sz="1200" dirty="0">
                <a:latin typeface="+mn-lt"/>
              </a:rPr>
              <a:t>• F1 vs. Accuracy Trade-Off: Label smoothing yielded higher macro-F1 (0.8310) but reduced overall accuracy and </a:t>
            </a:r>
            <a:r>
              <a:rPr sz="1200" dirty="0" err="1">
                <a:latin typeface="+mn-lt"/>
              </a:rPr>
              <a:t>dermoscopy</a:t>
            </a:r>
            <a:r>
              <a:rPr sz="1200" dirty="0">
                <a:latin typeface="+mn-lt"/>
              </a:rPr>
              <a:t> (0.7903), favoring square-root weighting.</a:t>
            </a:r>
          </a:p>
        </p:txBody>
      </p:sp>
    </p:spTree>
    <p:extLst>
      <p:ext uri="{BB962C8B-B14F-4D97-AF65-F5344CB8AC3E}">
        <p14:creationId xmlns:p14="http://schemas.microsoft.com/office/powerpoint/2010/main" val="138578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10C4D-5BBB-AD1D-A26E-4B114908A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4F0C7-30BC-4401-18CC-C275135B484B}"/>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44C15867-15DA-008E-F35E-4D758B4C4D8F}"/>
              </a:ext>
            </a:extLst>
          </p:cNvPr>
          <p:cNvSpPr>
            <a:spLocks noGrp="1"/>
          </p:cNvSpPr>
          <p:nvPr>
            <p:ph type="sldNum" sz="quarter" idx="16"/>
          </p:nvPr>
        </p:nvSpPr>
        <p:spPr>
          <a:xfrm>
            <a:off x="9194800" y="6035675"/>
            <a:ext cx="2844800" cy="365125"/>
          </a:xfrm>
        </p:spPr>
        <p:txBody>
          <a:bodyPr/>
          <a:lstStyle/>
          <a:p>
            <a:pPr>
              <a:defRPr/>
            </a:pPr>
            <a:fld id="{4CD333A3-7515-47B8-9EDC-EE0892D9C861}" type="slidenum">
              <a:rPr lang="en-US" smtClean="0"/>
              <a:pPr>
                <a:defRPr/>
              </a:pPr>
              <a:t>10</a:t>
            </a:fld>
            <a:endParaRPr lang="en-US" dirty="0"/>
          </a:p>
        </p:txBody>
      </p:sp>
      <p:sp>
        <p:nvSpPr>
          <p:cNvPr id="3" name="Google Shape;84;p1">
            <a:extLst>
              <a:ext uri="{FF2B5EF4-FFF2-40B4-BE49-F238E27FC236}">
                <a16:creationId xmlns:a16="http://schemas.microsoft.com/office/drawing/2014/main" id="{75042D47-1482-D8DA-5062-D7D29C220841}"/>
              </a:ext>
            </a:extLst>
          </p:cNvPr>
          <p:cNvSpPr/>
          <p:nvPr/>
        </p:nvSpPr>
        <p:spPr>
          <a:xfrm>
            <a:off x="731515" y="5181600"/>
            <a:ext cx="10728655" cy="896112"/>
          </a:xfrm>
          <a:prstGeom prst="roundRect">
            <a:avLst>
              <a:gd name="adj" fmla="val 16667"/>
            </a:avLst>
          </a:prstGeom>
          <a:solidFill>
            <a:srgbClr val="EEF6FF"/>
          </a:solidFill>
          <a:ln w="15225" cap="flat" cmpd="sng">
            <a:solidFill>
              <a:srgbClr val="0055A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85;p1">
            <a:extLst>
              <a:ext uri="{FF2B5EF4-FFF2-40B4-BE49-F238E27FC236}">
                <a16:creationId xmlns:a16="http://schemas.microsoft.com/office/drawing/2014/main" id="{6276F82B-7A30-3522-61EF-8880FFE230E0}"/>
              </a:ext>
            </a:extLst>
          </p:cNvPr>
          <p:cNvSpPr txBox="1"/>
          <p:nvPr/>
        </p:nvSpPr>
        <p:spPr>
          <a:xfrm>
            <a:off x="914395" y="5257800"/>
            <a:ext cx="10728655" cy="7155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1" i="0" u="none" strike="noStrike" cap="none" dirty="0">
                <a:solidFill>
                  <a:srgbClr val="0055A6"/>
                </a:solidFill>
                <a:latin typeface="+mn-lt"/>
                <a:ea typeface="Calibri"/>
                <a:cs typeface="Calibri"/>
                <a:sym typeface="Calibri"/>
              </a:rPr>
              <a:t>CORE RESEARCH DISCOVERY &amp; PRIVACY-PERFORMANCE BALANCE:</a:t>
            </a:r>
            <a:endParaRPr sz="2000" b="1" dirty="0">
              <a:latin typeface="+mn-lt"/>
            </a:endParaRPr>
          </a:p>
          <a:p>
            <a:pPr marL="0" marR="0" lvl="0" indent="0" algn="l" rtl="0">
              <a:lnSpc>
                <a:spcPct val="125000"/>
              </a:lnSpc>
              <a:spcBef>
                <a:spcPts val="0"/>
              </a:spcBef>
              <a:spcAft>
                <a:spcPts val="0"/>
              </a:spcAft>
              <a:buNone/>
            </a:pPr>
            <a:r>
              <a:rPr lang="en-US" sz="1200" i="0" u="none" strike="noStrike" cap="none" dirty="0">
                <a:solidFill>
                  <a:srgbClr val="0A2540"/>
                </a:solidFill>
                <a:latin typeface="+mn-lt"/>
                <a:ea typeface="Calibri"/>
                <a:cs typeface="Calibri"/>
                <a:sym typeface="Calibri"/>
              </a:rPr>
              <a:t>Standard </a:t>
            </a:r>
            <a:r>
              <a:rPr lang="en-US" sz="1200" i="0" u="none" strike="noStrike" cap="none" dirty="0" err="1">
                <a:solidFill>
                  <a:srgbClr val="0A2540"/>
                </a:solidFill>
                <a:latin typeface="+mn-lt"/>
                <a:ea typeface="Calibri"/>
                <a:cs typeface="Calibri"/>
                <a:sym typeface="Calibri"/>
              </a:rPr>
              <a:t>FedMedian</a:t>
            </a:r>
            <a:r>
              <a:rPr lang="en-US" sz="1200" i="0" u="none" strike="noStrike" cap="none" dirty="0">
                <a:solidFill>
                  <a:srgbClr val="0A2540"/>
                </a:solidFill>
                <a:latin typeface="+mn-lt"/>
                <a:ea typeface="Calibri"/>
                <a:cs typeface="Calibri"/>
                <a:sym typeface="Calibri"/>
              </a:rPr>
              <a:t> severely penalizes minority skin cancer (-8.31 pp drop to 62.51%). Our proposed Hybrid </a:t>
            </a:r>
            <a:r>
              <a:rPr lang="en-US" sz="1200" i="0" u="none" strike="noStrike" cap="none" dirty="0" err="1">
                <a:solidFill>
                  <a:srgbClr val="0A2540"/>
                </a:solidFill>
                <a:latin typeface="+mn-lt"/>
                <a:ea typeface="Calibri"/>
                <a:cs typeface="Calibri"/>
                <a:sym typeface="Calibri"/>
              </a:rPr>
              <a:t>FedProx</a:t>
            </a:r>
            <a:r>
              <a:rPr lang="en-US" sz="1200" i="0" u="none" strike="noStrike" cap="none" dirty="0">
                <a:solidFill>
                  <a:srgbClr val="0A2540"/>
                </a:solidFill>
                <a:latin typeface="+mn-lt"/>
                <a:ea typeface="Calibri"/>
                <a:cs typeface="Calibri"/>
                <a:sym typeface="Calibri"/>
              </a:rPr>
              <a:t> + Temperature Calibration successfully recovers </a:t>
            </a:r>
            <a:r>
              <a:rPr lang="en-US" sz="1200" i="0" u="none" strike="noStrike" cap="none" dirty="0" err="1">
                <a:solidFill>
                  <a:srgbClr val="0A2540"/>
                </a:solidFill>
                <a:latin typeface="+mn-lt"/>
                <a:ea typeface="Calibri"/>
                <a:cs typeface="Calibri"/>
                <a:sym typeface="Calibri"/>
              </a:rPr>
              <a:t>Dermoscopy</a:t>
            </a:r>
            <a:r>
              <a:rPr lang="en-US" sz="1200" i="0" u="none" strike="noStrike" cap="none" dirty="0">
                <a:solidFill>
                  <a:srgbClr val="0A2540"/>
                </a:solidFill>
                <a:latin typeface="+mn-lt"/>
                <a:ea typeface="Calibri"/>
                <a:cs typeface="Calibri"/>
                <a:sym typeface="Calibri"/>
              </a:rPr>
              <a:t> to 80.83% and delivers 90.80% overall accuracy, maintaining raw-data privacy with only a 0.61 pp federation cost against the 91.27% centralized baseline</a:t>
            </a:r>
            <a:r>
              <a:rPr lang="en-US" sz="1100" i="0" u="none" strike="noStrike" cap="none" dirty="0">
                <a:solidFill>
                  <a:srgbClr val="0A2540"/>
                </a:solidFill>
                <a:latin typeface="+mn-lt"/>
                <a:ea typeface="Calibri"/>
                <a:cs typeface="Calibri"/>
                <a:sym typeface="Calibri"/>
              </a:rPr>
              <a:t>.</a:t>
            </a:r>
            <a:endParaRPr dirty="0">
              <a:latin typeface="+mn-lt"/>
            </a:endParaRPr>
          </a:p>
        </p:txBody>
      </p:sp>
      <p:pic>
        <p:nvPicPr>
          <p:cNvPr id="6" name="Google Shape;87;p1" descr="slide_fig_aggregation_v2.png">
            <a:extLst>
              <a:ext uri="{FF2B5EF4-FFF2-40B4-BE49-F238E27FC236}">
                <a16:creationId xmlns:a16="http://schemas.microsoft.com/office/drawing/2014/main" id="{B90D73ED-46C1-0866-7E4B-3154B46FE9BD}"/>
              </a:ext>
            </a:extLst>
          </p:cNvPr>
          <p:cNvPicPr preferRelativeResize="0"/>
          <p:nvPr/>
        </p:nvPicPr>
        <p:blipFill rotWithShape="1">
          <a:blip r:embed="rId2">
            <a:alphaModFix/>
          </a:blip>
          <a:srcRect/>
          <a:stretch/>
        </p:blipFill>
        <p:spPr>
          <a:xfrm>
            <a:off x="838200" y="1401268"/>
            <a:ext cx="4892040" cy="3261360"/>
          </a:xfrm>
          <a:prstGeom prst="rect">
            <a:avLst/>
          </a:prstGeom>
          <a:noFill/>
          <a:ln>
            <a:noFill/>
          </a:ln>
        </p:spPr>
      </p:pic>
      <p:grpSp>
        <p:nvGrpSpPr>
          <p:cNvPr id="7" name="Group 6">
            <a:extLst>
              <a:ext uri="{FF2B5EF4-FFF2-40B4-BE49-F238E27FC236}">
                <a16:creationId xmlns:a16="http://schemas.microsoft.com/office/drawing/2014/main" id="{3C7ED3C2-EF2D-BFB7-4565-7CA1C84DF019}"/>
              </a:ext>
            </a:extLst>
          </p:cNvPr>
          <p:cNvGrpSpPr/>
          <p:nvPr/>
        </p:nvGrpSpPr>
        <p:grpSpPr>
          <a:xfrm>
            <a:off x="6373370" y="1398220"/>
            <a:ext cx="4785054" cy="3170446"/>
            <a:chOff x="6507786" y="1295400"/>
            <a:chExt cx="4785054" cy="3170446"/>
          </a:xfrm>
        </p:grpSpPr>
        <p:sp>
          <p:nvSpPr>
            <p:cNvPr id="8" name="Google Shape;90;p1">
              <a:extLst>
                <a:ext uri="{FF2B5EF4-FFF2-40B4-BE49-F238E27FC236}">
                  <a16:creationId xmlns:a16="http://schemas.microsoft.com/office/drawing/2014/main" id="{9F8A490D-218C-9005-565C-DD2F7B2A1B13}"/>
                </a:ext>
              </a:extLst>
            </p:cNvPr>
            <p:cNvSpPr txBox="1"/>
            <p:nvPr/>
          </p:nvSpPr>
          <p:spPr>
            <a:xfrm>
              <a:off x="7086601" y="1295400"/>
              <a:ext cx="3792016"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dirty="0">
                  <a:solidFill>
                    <a:srgbClr val="0A2540"/>
                  </a:solidFill>
                  <a:latin typeface="Calibri"/>
                  <a:ea typeface="Calibri"/>
                  <a:cs typeface="Calibri"/>
                  <a:sym typeface="Calibri"/>
                </a:rPr>
                <a:t>Aggregation Strategies vs. Centralized Baseline (91.27%)</a:t>
              </a:r>
              <a:endParaRPr sz="2400" dirty="0"/>
            </a:p>
          </p:txBody>
        </p:sp>
        <p:graphicFrame>
          <p:nvGraphicFramePr>
            <p:cNvPr id="9" name="Google Shape;91;p1">
              <a:extLst>
                <a:ext uri="{FF2B5EF4-FFF2-40B4-BE49-F238E27FC236}">
                  <a16:creationId xmlns:a16="http://schemas.microsoft.com/office/drawing/2014/main" id="{F6D233F0-A668-C20D-7B26-44CB8BAD0464}"/>
                </a:ext>
              </a:extLst>
            </p:cNvPr>
            <p:cNvGraphicFramePr/>
            <p:nvPr>
              <p:extLst>
                <p:ext uri="{D42A27DB-BD31-4B8C-83A1-F6EECF244321}">
                  <p14:modId xmlns:p14="http://schemas.microsoft.com/office/powerpoint/2010/main" val="4278173585"/>
                </p:ext>
              </p:extLst>
            </p:nvPr>
          </p:nvGraphicFramePr>
          <p:xfrm>
            <a:off x="6507786" y="1634626"/>
            <a:ext cx="4785054" cy="2831220"/>
          </p:xfrm>
          <a:graphic>
            <a:graphicData uri="http://schemas.openxmlformats.org/drawingml/2006/table">
              <a:tbl>
                <a:tblPr firstRow="1" bandRow="1">
                  <a:tableStyleId>{5C22544A-7EE6-4342-B048-85BDC9FD1C3A}</a:tableStyleId>
                </a:tblPr>
                <a:tblGrid>
                  <a:gridCol w="1508751">
                    <a:extLst>
                      <a:ext uri="{9D8B030D-6E8A-4147-A177-3AD203B41FA5}">
                        <a16:colId xmlns:a16="http://schemas.microsoft.com/office/drawing/2014/main" val="20000"/>
                      </a:ext>
                    </a:extLst>
                  </a:gridCol>
                  <a:gridCol w="960126">
                    <a:extLst>
                      <a:ext uri="{9D8B030D-6E8A-4147-A177-3AD203B41FA5}">
                        <a16:colId xmlns:a16="http://schemas.microsoft.com/office/drawing/2014/main" val="20001"/>
                      </a:ext>
                    </a:extLst>
                  </a:gridCol>
                  <a:gridCol w="960126">
                    <a:extLst>
                      <a:ext uri="{9D8B030D-6E8A-4147-A177-3AD203B41FA5}">
                        <a16:colId xmlns:a16="http://schemas.microsoft.com/office/drawing/2014/main" val="20002"/>
                      </a:ext>
                    </a:extLst>
                  </a:gridCol>
                  <a:gridCol w="1356051">
                    <a:extLst>
                      <a:ext uri="{9D8B030D-6E8A-4147-A177-3AD203B41FA5}">
                        <a16:colId xmlns:a16="http://schemas.microsoft.com/office/drawing/2014/main" val="20003"/>
                      </a:ext>
                    </a:extLst>
                  </a:gridCol>
                </a:tblGrid>
                <a:tr h="323197">
                  <a:tc>
                    <a:txBody>
                      <a:bodyPr/>
                      <a:lstStyle/>
                      <a:p>
                        <a:pPr marL="0" marR="0" lvl="0" indent="0" algn="ctr" rtl="0">
                          <a:spcBef>
                            <a:spcPts val="0"/>
                          </a:spcBef>
                          <a:spcAft>
                            <a:spcPts val="0"/>
                          </a:spcAft>
                          <a:buNone/>
                        </a:pPr>
                        <a:r>
                          <a:rPr lang="en-US" sz="1050" b="1" u="none" strike="noStrike" cap="none" dirty="0">
                            <a:solidFill>
                              <a:srgbClr val="FFFFFF"/>
                            </a:solidFill>
                          </a:rPr>
                          <a:t>Strategy</a:t>
                        </a:r>
                        <a:endParaRPr lang="en-US" sz="2800" dirty="0"/>
                      </a:p>
                    </a:txBody>
                    <a:tcPr marL="91450" marR="91450" marT="45725" marB="45725"/>
                  </a:tc>
                  <a:tc>
                    <a:txBody>
                      <a:bodyPr/>
                      <a:lstStyle/>
                      <a:p>
                        <a:pPr marL="0" marR="0" lvl="0" indent="0" algn="ctr" rtl="0">
                          <a:spcBef>
                            <a:spcPts val="0"/>
                          </a:spcBef>
                          <a:spcAft>
                            <a:spcPts val="0"/>
                          </a:spcAft>
                          <a:buNone/>
                        </a:pPr>
                        <a:r>
                          <a:rPr lang="en-US" sz="1050" b="1" u="none" strike="noStrike" cap="none">
                            <a:solidFill>
                              <a:srgbClr val="FFFFFF"/>
                            </a:solidFill>
                          </a:rPr>
                          <a:t>Overall Acc</a:t>
                        </a:r>
                        <a:endParaRPr lang="en-US" sz="2800"/>
                      </a:p>
                    </a:txBody>
                    <a:tcPr marL="91450" marR="91450" marT="45725" marB="45725"/>
                  </a:tc>
                  <a:tc>
                    <a:txBody>
                      <a:bodyPr/>
                      <a:lstStyle/>
                      <a:p>
                        <a:pPr marL="0" marR="0" lvl="0" indent="0" algn="ctr" rtl="0">
                          <a:spcBef>
                            <a:spcPts val="0"/>
                          </a:spcBef>
                          <a:spcAft>
                            <a:spcPts val="0"/>
                          </a:spcAft>
                          <a:buNone/>
                        </a:pPr>
                        <a:r>
                          <a:rPr lang="en-US" sz="1050" b="1" u="none" strike="noStrike" cap="none">
                            <a:solidFill>
                              <a:srgbClr val="FFFFFF"/>
                            </a:solidFill>
                          </a:rPr>
                          <a:t>Dermoscopy</a:t>
                        </a:r>
                        <a:endParaRPr lang="en-US" sz="2800"/>
                      </a:p>
                    </a:txBody>
                    <a:tcPr marL="91450" marR="91450" marT="45725" marB="45725"/>
                  </a:tc>
                  <a:tc>
                    <a:txBody>
                      <a:bodyPr/>
                      <a:lstStyle/>
                      <a:p>
                        <a:pPr marL="0" marR="0" lvl="0" indent="0" algn="ctr" rtl="0">
                          <a:spcBef>
                            <a:spcPts val="0"/>
                          </a:spcBef>
                          <a:spcAft>
                            <a:spcPts val="0"/>
                          </a:spcAft>
                          <a:buNone/>
                        </a:pPr>
                        <a:r>
                          <a:rPr lang="en-US" sz="1050" b="1" u="none" strike="noStrike" cap="none">
                            <a:solidFill>
                              <a:srgbClr val="FFFFFF"/>
                            </a:solidFill>
                          </a:rPr>
                          <a:t>vs Centralized</a:t>
                        </a:r>
                        <a:endParaRPr lang="en-US" sz="2800" dirty="0"/>
                      </a:p>
                    </a:txBody>
                    <a:tcPr marL="91450" marR="91450" marT="45725" marB="45725"/>
                  </a:tc>
                  <a:extLst>
                    <a:ext uri="{0D108BD9-81ED-4DB2-BD59-A6C34878D82A}">
                      <a16:rowId xmlns:a16="http://schemas.microsoft.com/office/drawing/2014/main" val="10000"/>
                    </a:ext>
                  </a:extLst>
                </a:tr>
                <a:tr h="323197">
                  <a:tc>
                    <a:txBody>
                      <a:bodyPr/>
                      <a:lstStyle/>
                      <a:p>
                        <a:pPr marL="0" marR="0" lvl="0" indent="0" algn="l" rtl="0">
                          <a:spcBef>
                            <a:spcPts val="0"/>
                          </a:spcBef>
                          <a:spcAft>
                            <a:spcPts val="0"/>
                          </a:spcAft>
                          <a:buNone/>
                        </a:pPr>
                        <a:r>
                          <a:rPr lang="en-US" sz="1100" b="1" u="none" strike="noStrike" cap="none" dirty="0">
                            <a:solidFill>
                              <a:schemeClr val="tx1"/>
                            </a:solidFill>
                          </a:rPr>
                          <a:t>Centralized Baseline</a:t>
                        </a:r>
                        <a:endParaRPr lang="en-US" sz="3200" dirty="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a:solidFill>
                              <a:schemeClr val="tx1"/>
                            </a:solidFill>
                          </a:rPr>
                          <a:t>91.27%</a:t>
                        </a:r>
                        <a:endParaRPr lang="en-US" sz="320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a:solidFill>
                              <a:schemeClr val="tx1"/>
                            </a:solidFill>
                          </a:rPr>
                          <a:t>81.23%</a:t>
                        </a:r>
                        <a:endParaRPr lang="en-US" sz="320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a:solidFill>
                              <a:schemeClr val="tx1"/>
                            </a:solidFill>
                          </a:rPr>
                          <a:t> 0.00 pp</a:t>
                        </a:r>
                        <a:endParaRPr lang="en-US" sz="3200" dirty="0">
                          <a:solidFill>
                            <a:schemeClr val="tx1"/>
                          </a:solidFill>
                        </a:endParaRPr>
                      </a:p>
                    </a:txBody>
                    <a:tcPr marL="91450" marR="91450" marT="45725" marB="45725"/>
                  </a:tc>
                  <a:extLst>
                    <a:ext uri="{0D108BD9-81ED-4DB2-BD59-A6C34878D82A}">
                      <a16:rowId xmlns:a16="http://schemas.microsoft.com/office/drawing/2014/main" val="10001"/>
                    </a:ext>
                  </a:extLst>
                </a:tr>
                <a:tr h="446019">
                  <a:tc>
                    <a:txBody>
                      <a:bodyPr/>
                      <a:lstStyle/>
                      <a:p>
                        <a:pPr marL="0" marR="0" lvl="0" indent="0" algn="l" rtl="0">
                          <a:spcBef>
                            <a:spcPts val="0"/>
                          </a:spcBef>
                          <a:spcAft>
                            <a:spcPts val="0"/>
                          </a:spcAft>
                          <a:buNone/>
                        </a:pPr>
                        <a:r>
                          <a:rPr lang="en-US" sz="1100" u="none" strike="noStrike" cap="none" dirty="0" err="1">
                            <a:solidFill>
                              <a:srgbClr val="1E293B"/>
                            </a:solidFill>
                          </a:rPr>
                          <a:t>FedMedian</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86.15%</a:t>
                        </a:r>
                        <a:endParaRPr lang="en-US" sz="320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62.51%</a:t>
                        </a:r>
                        <a:endParaRPr lang="en-US" sz="320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−5.12 pp (Failed on skin)</a:t>
                        </a:r>
                        <a:endParaRPr lang="en-US" sz="3200" dirty="0"/>
                      </a:p>
                    </a:txBody>
                    <a:tcPr marL="91450" marR="91450" marT="45725" marB="45725"/>
                  </a:tc>
                  <a:extLst>
                    <a:ext uri="{0D108BD9-81ED-4DB2-BD59-A6C34878D82A}">
                      <a16:rowId xmlns:a16="http://schemas.microsoft.com/office/drawing/2014/main" val="10002"/>
                    </a:ext>
                  </a:extLst>
                </a:tr>
                <a:tr h="323197">
                  <a:tc>
                    <a:txBody>
                      <a:bodyPr/>
                      <a:lstStyle/>
                      <a:p>
                        <a:pPr marL="0" marR="0" lvl="0" indent="0" algn="l" rtl="0">
                          <a:spcBef>
                            <a:spcPts val="0"/>
                          </a:spcBef>
                          <a:spcAft>
                            <a:spcPts val="0"/>
                          </a:spcAft>
                          <a:buNone/>
                        </a:pPr>
                        <a:r>
                          <a:rPr lang="en-US" sz="1100" u="none" strike="noStrike" cap="none" dirty="0" err="1">
                            <a:solidFill>
                              <a:srgbClr val="1E293B"/>
                            </a:solidFill>
                          </a:rPr>
                          <a:t>FedWeighted</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87.89%</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70.62%</a:t>
                        </a:r>
                        <a:endParaRPr lang="en-US" sz="320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−3.38 pp</a:t>
                        </a:r>
                        <a:endParaRPr lang="en-US" sz="3200"/>
                      </a:p>
                    </a:txBody>
                    <a:tcPr marL="91450" marR="91450" marT="45725" marB="45725"/>
                  </a:tc>
                  <a:extLst>
                    <a:ext uri="{0D108BD9-81ED-4DB2-BD59-A6C34878D82A}">
                      <a16:rowId xmlns:a16="http://schemas.microsoft.com/office/drawing/2014/main" val="10003"/>
                    </a:ext>
                  </a:extLst>
                </a:tr>
                <a:tr h="323197">
                  <a:tc>
                    <a:txBody>
                      <a:bodyPr/>
                      <a:lstStyle/>
                      <a:p>
                        <a:pPr marL="0" marR="0" lvl="0" indent="0" algn="l" rtl="0">
                          <a:spcBef>
                            <a:spcPts val="0"/>
                          </a:spcBef>
                          <a:spcAft>
                            <a:spcPts val="0"/>
                          </a:spcAft>
                          <a:buNone/>
                        </a:pPr>
                        <a:r>
                          <a:rPr lang="en-US" sz="1100" u="none" strike="noStrike" cap="none" dirty="0" err="1">
                            <a:solidFill>
                              <a:srgbClr val="1E293B"/>
                            </a:solidFill>
                          </a:rPr>
                          <a:t>FedAvg</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dirty="0">
                            <a:solidFill>
                              <a:srgbClr val="1E293B"/>
                            </a:solidFill>
                          </a:rPr>
                          <a:t>88.14%</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70.82%</a:t>
                        </a:r>
                        <a:endParaRPr lang="en-US" sz="320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−3.13 pp</a:t>
                        </a:r>
                        <a:endParaRPr lang="en-US" sz="3200"/>
                      </a:p>
                    </a:txBody>
                    <a:tcPr marL="91450" marR="91450" marT="45725" marB="45725"/>
                  </a:tc>
                  <a:extLst>
                    <a:ext uri="{0D108BD9-81ED-4DB2-BD59-A6C34878D82A}">
                      <a16:rowId xmlns:a16="http://schemas.microsoft.com/office/drawing/2014/main" val="10004"/>
                    </a:ext>
                  </a:extLst>
                </a:tr>
                <a:tr h="323197">
                  <a:tc>
                    <a:txBody>
                      <a:bodyPr/>
                      <a:lstStyle/>
                      <a:p>
                        <a:pPr marL="0" marR="0" lvl="0" indent="0" algn="l" rtl="0">
                          <a:spcBef>
                            <a:spcPts val="0"/>
                          </a:spcBef>
                          <a:spcAft>
                            <a:spcPts val="0"/>
                          </a:spcAft>
                          <a:buNone/>
                        </a:pPr>
                        <a:r>
                          <a:rPr lang="en-US" sz="1100" u="none" strike="noStrike" cap="none">
                            <a:solidFill>
                              <a:srgbClr val="1E293B"/>
                            </a:solidFill>
                          </a:rPr>
                          <a:t>FedProx</a:t>
                        </a:r>
                        <a:endParaRPr lang="en-US" sz="3200"/>
                      </a:p>
                    </a:txBody>
                    <a:tcPr marL="91450" marR="91450" marT="45725" marB="45725"/>
                  </a:tc>
                  <a:tc>
                    <a:txBody>
                      <a:bodyPr/>
                      <a:lstStyle/>
                      <a:p>
                        <a:pPr marL="0" marR="0" lvl="0" indent="0" algn="l" rtl="0">
                          <a:spcBef>
                            <a:spcPts val="0"/>
                          </a:spcBef>
                          <a:spcAft>
                            <a:spcPts val="0"/>
                          </a:spcAft>
                          <a:buNone/>
                        </a:pPr>
                        <a:r>
                          <a:rPr lang="en-US" sz="1100" u="none" strike="noStrike" cap="none" dirty="0">
                            <a:solidFill>
                              <a:srgbClr val="1E293B"/>
                            </a:solidFill>
                          </a:rPr>
                          <a:t>89.70%</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79.03%</a:t>
                        </a:r>
                        <a:endParaRPr lang="en-US" sz="3200" dirty="0"/>
                      </a:p>
                    </a:txBody>
                    <a:tcPr marL="91450" marR="91450" marT="45725" marB="45725"/>
                  </a:tc>
                  <a:tc>
                    <a:txBody>
                      <a:bodyPr/>
                      <a:lstStyle/>
                      <a:p>
                        <a:pPr marL="0" marR="0" lvl="0" indent="0" algn="l" rtl="0">
                          <a:spcBef>
                            <a:spcPts val="0"/>
                          </a:spcBef>
                          <a:spcAft>
                            <a:spcPts val="0"/>
                          </a:spcAft>
                          <a:buNone/>
                        </a:pPr>
                        <a:r>
                          <a:rPr lang="en-US" sz="1100" u="none" strike="noStrike" cap="none">
                            <a:solidFill>
                              <a:srgbClr val="1E293B"/>
                            </a:solidFill>
                          </a:rPr>
                          <a:t>−1.57 pp</a:t>
                        </a:r>
                        <a:endParaRPr lang="en-US" sz="3200" dirty="0"/>
                      </a:p>
                    </a:txBody>
                    <a:tcPr marL="91450" marR="91450" marT="45725" marB="45725"/>
                  </a:tc>
                  <a:extLst>
                    <a:ext uri="{0D108BD9-81ED-4DB2-BD59-A6C34878D82A}">
                      <a16:rowId xmlns:a16="http://schemas.microsoft.com/office/drawing/2014/main" val="10005"/>
                    </a:ext>
                  </a:extLst>
                </a:tr>
                <a:tr h="323197">
                  <a:tc>
                    <a:txBody>
                      <a:bodyPr/>
                      <a:lstStyle/>
                      <a:p>
                        <a:pPr marL="0" marR="0" lvl="0" indent="0" algn="l" rtl="0">
                          <a:spcBef>
                            <a:spcPts val="0"/>
                          </a:spcBef>
                          <a:spcAft>
                            <a:spcPts val="0"/>
                          </a:spcAft>
                          <a:buNone/>
                        </a:pPr>
                        <a:r>
                          <a:rPr lang="en-US" sz="1100" b="1" u="none" strike="noStrike" cap="none">
                            <a:solidFill>
                              <a:srgbClr val="0055A6"/>
                            </a:solidFill>
                          </a:rPr>
                          <a:t>Hybrid (Uncalibrated)</a:t>
                        </a:r>
                        <a:endParaRPr lang="en-US" sz="3200"/>
                      </a:p>
                    </a:txBody>
                    <a:tcPr marL="91450" marR="91450" marT="45725" marB="45725"/>
                  </a:tc>
                  <a:tc>
                    <a:txBody>
                      <a:bodyPr/>
                      <a:lstStyle/>
                      <a:p>
                        <a:pPr marL="0" marR="0" lvl="0" indent="0" algn="l" rtl="0">
                          <a:spcBef>
                            <a:spcPts val="0"/>
                          </a:spcBef>
                          <a:spcAft>
                            <a:spcPts val="0"/>
                          </a:spcAft>
                          <a:buNone/>
                        </a:pPr>
                        <a:r>
                          <a:rPr lang="en-US" sz="1100" b="1" u="none" strike="noStrike" cap="none" dirty="0">
                            <a:solidFill>
                              <a:srgbClr val="0055A6"/>
                            </a:solidFill>
                          </a:rPr>
                          <a:t>90.66%</a:t>
                        </a:r>
                        <a:endParaRPr lang="en-US" sz="3200" dirty="0"/>
                      </a:p>
                    </a:txBody>
                    <a:tcPr marL="91450" marR="91450" marT="45725" marB="45725"/>
                  </a:tc>
                  <a:tc>
                    <a:txBody>
                      <a:bodyPr/>
                      <a:lstStyle/>
                      <a:p>
                        <a:pPr marL="0" marR="0" lvl="0" indent="0" algn="l" rtl="0">
                          <a:spcBef>
                            <a:spcPts val="0"/>
                          </a:spcBef>
                          <a:spcAft>
                            <a:spcPts val="0"/>
                          </a:spcAft>
                          <a:buNone/>
                        </a:pPr>
                        <a:r>
                          <a:rPr lang="en-US" sz="1100" b="1" u="none" strike="noStrike" cap="none">
                            <a:solidFill>
                              <a:srgbClr val="0055A6"/>
                            </a:solidFill>
                          </a:rPr>
                          <a:t>80.33%</a:t>
                        </a:r>
                        <a:endParaRPr lang="en-US" sz="3200" dirty="0"/>
                      </a:p>
                    </a:txBody>
                    <a:tcPr marL="91450" marR="91450" marT="45725" marB="45725"/>
                  </a:tc>
                  <a:tc>
                    <a:txBody>
                      <a:bodyPr/>
                      <a:lstStyle/>
                      <a:p>
                        <a:pPr marL="0" marR="0" lvl="0" indent="0" algn="l" rtl="0">
                          <a:spcBef>
                            <a:spcPts val="0"/>
                          </a:spcBef>
                          <a:spcAft>
                            <a:spcPts val="0"/>
                          </a:spcAft>
                          <a:buNone/>
                        </a:pPr>
                        <a:r>
                          <a:rPr lang="en-US" sz="1100" b="1" u="none" strike="noStrike" cap="none" dirty="0">
                            <a:solidFill>
                              <a:srgbClr val="0055A6"/>
                            </a:solidFill>
                          </a:rPr>
                          <a:t>−0.61 pp</a:t>
                        </a:r>
                        <a:endParaRPr lang="en-US" sz="3200" dirty="0"/>
                      </a:p>
                    </a:txBody>
                    <a:tcPr marL="91450" marR="91450" marT="45725" marB="45725"/>
                  </a:tc>
                  <a:extLst>
                    <a:ext uri="{0D108BD9-81ED-4DB2-BD59-A6C34878D82A}">
                      <a16:rowId xmlns:a16="http://schemas.microsoft.com/office/drawing/2014/main" val="10006"/>
                    </a:ext>
                  </a:extLst>
                </a:tr>
                <a:tr h="446019">
                  <a:tc>
                    <a:txBody>
                      <a:bodyPr/>
                      <a:lstStyle/>
                      <a:p>
                        <a:pPr marL="0" marR="0" lvl="0" indent="0" algn="l" rtl="0">
                          <a:spcBef>
                            <a:spcPts val="0"/>
                          </a:spcBef>
                          <a:spcAft>
                            <a:spcPts val="0"/>
                          </a:spcAft>
                          <a:buNone/>
                        </a:pPr>
                        <a:r>
                          <a:rPr lang="en-US" sz="1100" b="1" u="none" strike="noStrike" cap="none">
                            <a:solidFill>
                              <a:schemeClr val="tx2"/>
                            </a:solidFill>
                          </a:rPr>
                          <a:t>Hybrid (Deployed Calibrated)</a:t>
                        </a:r>
                        <a:endParaRPr lang="en-US" sz="3200" dirty="0">
                          <a:solidFill>
                            <a:schemeClr val="tx2"/>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a:solidFill>
                              <a:schemeClr val="tx2"/>
                            </a:solidFill>
                          </a:rPr>
                          <a:t>90.80%</a:t>
                        </a:r>
                        <a:endParaRPr lang="en-US" sz="3200">
                          <a:solidFill>
                            <a:schemeClr val="tx2"/>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dirty="0">
                            <a:solidFill>
                              <a:schemeClr val="tx2"/>
                            </a:solidFill>
                          </a:rPr>
                          <a:t>80.83%</a:t>
                        </a:r>
                        <a:endParaRPr lang="en-US" sz="3200" dirty="0">
                          <a:solidFill>
                            <a:schemeClr val="tx2"/>
                          </a:solidFill>
                        </a:endParaRPr>
                      </a:p>
                    </a:txBody>
                    <a:tcPr marL="91450" marR="91450" marT="45725" marB="45725"/>
                  </a:tc>
                  <a:tc>
                    <a:txBody>
                      <a:bodyPr/>
                      <a:lstStyle/>
                      <a:p>
                        <a:pPr marL="0" marR="0" lvl="0" indent="0" algn="l" rtl="0">
                          <a:spcBef>
                            <a:spcPts val="0"/>
                          </a:spcBef>
                          <a:spcAft>
                            <a:spcPts val="0"/>
                          </a:spcAft>
                          <a:buNone/>
                        </a:pPr>
                        <a:r>
                          <a:rPr lang="en-US" sz="1100" b="1" u="none" strike="noStrike" cap="none" dirty="0">
                            <a:solidFill>
                              <a:schemeClr val="tx2"/>
                            </a:solidFill>
                          </a:rPr>
                          <a:t>−0.47 pp (Final Model)</a:t>
                        </a:r>
                        <a:endParaRPr lang="en-US" sz="3200" dirty="0">
                          <a:solidFill>
                            <a:schemeClr val="tx2"/>
                          </a:solidFill>
                        </a:endParaRPr>
                      </a:p>
                    </a:txBody>
                    <a:tcPr marL="91450" marR="91450" marT="45725" marB="45725"/>
                  </a:tc>
                  <a:extLst>
                    <a:ext uri="{0D108BD9-81ED-4DB2-BD59-A6C34878D82A}">
                      <a16:rowId xmlns:a16="http://schemas.microsoft.com/office/drawing/2014/main" val="10007"/>
                    </a:ext>
                  </a:extLst>
                </a:tr>
              </a:tbl>
            </a:graphicData>
          </a:graphic>
        </p:graphicFrame>
      </p:grpSp>
    </p:spTree>
    <p:extLst>
      <p:ext uri="{BB962C8B-B14F-4D97-AF65-F5344CB8AC3E}">
        <p14:creationId xmlns:p14="http://schemas.microsoft.com/office/powerpoint/2010/main" val="2951016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207C3-DC34-6A33-12BA-F45028AC4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A3009-5FD9-B4E5-5D5B-790DB6377B27}"/>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968D849D-7B1D-5154-195A-3D536F5D67DE}"/>
              </a:ext>
            </a:extLst>
          </p:cNvPr>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11</a:t>
            </a:fld>
            <a:endParaRPr lang="en-US" dirty="0"/>
          </a:p>
        </p:txBody>
      </p:sp>
      <p:pic>
        <p:nvPicPr>
          <p:cNvPr id="10" name="Picture 9">
            <a:extLst>
              <a:ext uri="{FF2B5EF4-FFF2-40B4-BE49-F238E27FC236}">
                <a16:creationId xmlns:a16="http://schemas.microsoft.com/office/drawing/2014/main" id="{56CC76D6-3CFD-EC9E-FD2A-3135E57E8266}"/>
              </a:ext>
            </a:extLst>
          </p:cNvPr>
          <p:cNvPicPr>
            <a:picLocks noChangeAspect="1"/>
          </p:cNvPicPr>
          <p:nvPr/>
        </p:nvPicPr>
        <p:blipFill>
          <a:blip r:embed="rId2"/>
          <a:stretch/>
        </p:blipFill>
        <p:spPr>
          <a:xfrm>
            <a:off x="1025632" y="1447800"/>
            <a:ext cx="4473361" cy="3810000"/>
          </a:xfrm>
          <a:prstGeom prst="rect">
            <a:avLst/>
          </a:prstGeom>
        </p:spPr>
      </p:pic>
      <p:pic>
        <p:nvPicPr>
          <p:cNvPr id="11" name="Picture 10">
            <a:extLst>
              <a:ext uri="{FF2B5EF4-FFF2-40B4-BE49-F238E27FC236}">
                <a16:creationId xmlns:a16="http://schemas.microsoft.com/office/drawing/2014/main" id="{09FF7440-A598-FF5A-C727-864BFF1863DC}"/>
              </a:ext>
            </a:extLst>
          </p:cNvPr>
          <p:cNvPicPr>
            <a:picLocks noChangeAspect="1"/>
          </p:cNvPicPr>
          <p:nvPr/>
        </p:nvPicPr>
        <p:blipFill>
          <a:blip r:embed="rId3"/>
          <a:stretch/>
        </p:blipFill>
        <p:spPr>
          <a:xfrm>
            <a:off x="6238875" y="1447800"/>
            <a:ext cx="5286375" cy="3642823"/>
          </a:xfrm>
          <a:prstGeom prst="rect">
            <a:avLst/>
          </a:prstGeom>
        </p:spPr>
      </p:pic>
      <p:sp>
        <p:nvSpPr>
          <p:cNvPr id="12" name="TextBox 11">
            <a:extLst>
              <a:ext uri="{FF2B5EF4-FFF2-40B4-BE49-F238E27FC236}">
                <a16:creationId xmlns:a16="http://schemas.microsoft.com/office/drawing/2014/main" id="{F1163DE7-4626-7E37-3669-796E791C2137}"/>
              </a:ext>
            </a:extLst>
          </p:cNvPr>
          <p:cNvSpPr txBox="1"/>
          <p:nvPr/>
        </p:nvSpPr>
        <p:spPr>
          <a:xfrm>
            <a:off x="2133600" y="1219200"/>
            <a:ext cx="3010761" cy="276999"/>
          </a:xfrm>
          <a:prstGeom prst="rect">
            <a:avLst/>
          </a:prstGeom>
          <a:noFill/>
        </p:spPr>
        <p:txBody>
          <a:bodyPr wrap="none">
            <a:spAutoFit/>
          </a:bodyPr>
          <a:lstStyle/>
          <a:p>
            <a:pPr>
              <a:defRPr sz="1200" b="1">
                <a:solidFill>
                  <a:srgbClr val="0A2540"/>
                </a:solidFill>
              </a:defRPr>
            </a:pPr>
            <a:r>
              <a:rPr dirty="0"/>
              <a:t>18-Class Confusion Matrix (n = 7,261)</a:t>
            </a:r>
          </a:p>
        </p:txBody>
      </p:sp>
      <p:sp>
        <p:nvSpPr>
          <p:cNvPr id="13" name="TextBox 12">
            <a:extLst>
              <a:ext uri="{FF2B5EF4-FFF2-40B4-BE49-F238E27FC236}">
                <a16:creationId xmlns:a16="http://schemas.microsoft.com/office/drawing/2014/main" id="{BC56C24F-FD18-52FB-1AD3-10D9CE411D0B}"/>
              </a:ext>
            </a:extLst>
          </p:cNvPr>
          <p:cNvSpPr txBox="1"/>
          <p:nvPr/>
        </p:nvSpPr>
        <p:spPr>
          <a:xfrm>
            <a:off x="7467600" y="1219200"/>
            <a:ext cx="3389069" cy="276999"/>
          </a:xfrm>
          <a:prstGeom prst="rect">
            <a:avLst/>
          </a:prstGeom>
          <a:noFill/>
        </p:spPr>
        <p:txBody>
          <a:bodyPr wrap="none">
            <a:spAutoFit/>
          </a:bodyPr>
          <a:lstStyle/>
          <a:p>
            <a:pPr>
              <a:defRPr sz="1200" b="1">
                <a:solidFill>
                  <a:srgbClr val="0A2540"/>
                </a:solidFill>
              </a:defRPr>
            </a:pPr>
            <a:r>
              <a:rPr dirty="0"/>
              <a:t>One-vs-Rest (</a:t>
            </a:r>
            <a:r>
              <a:rPr dirty="0" err="1"/>
              <a:t>OvR</a:t>
            </a:r>
            <a:r>
              <a:rPr dirty="0"/>
              <a:t>) ROC Curves by Modality</a:t>
            </a:r>
          </a:p>
        </p:txBody>
      </p:sp>
      <p:sp>
        <p:nvSpPr>
          <p:cNvPr id="14" name="Rounded Rectangle 10">
            <a:extLst>
              <a:ext uri="{FF2B5EF4-FFF2-40B4-BE49-F238E27FC236}">
                <a16:creationId xmlns:a16="http://schemas.microsoft.com/office/drawing/2014/main" id="{51131806-673E-495B-ECDC-FFF75BD8497B}"/>
              </a:ext>
            </a:extLst>
          </p:cNvPr>
          <p:cNvSpPr/>
          <p:nvPr/>
        </p:nvSpPr>
        <p:spPr>
          <a:xfrm>
            <a:off x="1219200" y="5320760"/>
            <a:ext cx="9738055" cy="850853"/>
          </a:xfrm>
          <a:prstGeom prst="roundRect">
            <a:avLst/>
          </a:prstGeom>
          <a:solidFill>
            <a:srgbClr val="EEF6FF"/>
          </a:solidFill>
          <a:ln w="15240">
            <a:solidFill>
              <a:srgbClr val="005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Tree>
    <p:extLst>
      <p:ext uri="{BB962C8B-B14F-4D97-AF65-F5344CB8AC3E}">
        <p14:creationId xmlns:p14="http://schemas.microsoft.com/office/powerpoint/2010/main" val="322225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12</a:t>
            </a:fld>
            <a:endParaRPr lang="en-US" dirty="0"/>
          </a:p>
        </p:txBody>
      </p:sp>
      <p:sp>
        <p:nvSpPr>
          <p:cNvPr id="5" name="Rounded Rectangle 8">
            <a:extLst>
              <a:ext uri="{FF2B5EF4-FFF2-40B4-BE49-F238E27FC236}">
                <a16:creationId xmlns:a16="http://schemas.microsoft.com/office/drawing/2014/main" id="{53FAD00B-E69B-1237-69A9-2699C43969B5}"/>
              </a:ext>
            </a:extLst>
          </p:cNvPr>
          <p:cNvSpPr/>
          <p:nvPr/>
        </p:nvSpPr>
        <p:spPr>
          <a:xfrm>
            <a:off x="8906256" y="1319033"/>
            <a:ext cx="2560320" cy="1188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ounded Rectangle 4">
            <a:extLst>
              <a:ext uri="{FF2B5EF4-FFF2-40B4-BE49-F238E27FC236}">
                <a16:creationId xmlns:a16="http://schemas.microsoft.com/office/drawing/2014/main" id="{1E52A3F3-A6D2-9EC2-6937-F02C236963A1}"/>
              </a:ext>
            </a:extLst>
          </p:cNvPr>
          <p:cNvSpPr/>
          <p:nvPr/>
        </p:nvSpPr>
        <p:spPr>
          <a:xfrm>
            <a:off x="722376" y="1329137"/>
            <a:ext cx="2560320" cy="1188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D0C0358-E386-55B2-130D-CBD67BCECAD6}"/>
              </a:ext>
            </a:extLst>
          </p:cNvPr>
          <p:cNvSpPr txBox="1"/>
          <p:nvPr/>
        </p:nvSpPr>
        <p:spPr>
          <a:xfrm>
            <a:off x="981456" y="1420577"/>
            <a:ext cx="2340864" cy="923330"/>
          </a:xfrm>
          <a:prstGeom prst="rect">
            <a:avLst/>
          </a:prstGeom>
          <a:noFill/>
        </p:spPr>
        <p:txBody>
          <a:bodyPr wrap="square">
            <a:spAutoFit/>
          </a:bodyPr>
          <a:lstStyle/>
          <a:p>
            <a:pPr>
              <a:defRPr sz="2100" b="1">
                <a:solidFill>
                  <a:srgbClr val="0055A6"/>
                </a:solidFill>
              </a:defRPr>
            </a:pPr>
            <a:r>
              <a:rPr sz="3200" dirty="0">
                <a:latin typeface="+mn-lt"/>
              </a:rPr>
              <a:t>90.80%</a:t>
            </a:r>
          </a:p>
          <a:p>
            <a:pPr>
              <a:defRPr sz="1000" b="1">
                <a:solidFill>
                  <a:srgbClr val="1E293B"/>
                </a:solidFill>
              </a:defRPr>
            </a:pPr>
            <a:r>
              <a:rPr sz="1200" dirty="0">
                <a:latin typeface="+mn-lt"/>
              </a:rPr>
              <a:t>TEST ACCURACY</a:t>
            </a:r>
          </a:p>
          <a:p>
            <a:pPr>
              <a:defRPr sz="850">
                <a:solidFill>
                  <a:srgbClr val="64748B"/>
                </a:solidFill>
              </a:defRPr>
            </a:pPr>
            <a:r>
              <a:rPr sz="1050" dirty="0">
                <a:latin typeface="+mn-lt"/>
              </a:rPr>
              <a:t>[90.13%, 91.43%] 95% CI</a:t>
            </a:r>
          </a:p>
        </p:txBody>
      </p:sp>
      <p:sp>
        <p:nvSpPr>
          <p:cNvPr id="8" name="Rounded Rectangle 6">
            <a:extLst>
              <a:ext uri="{FF2B5EF4-FFF2-40B4-BE49-F238E27FC236}">
                <a16:creationId xmlns:a16="http://schemas.microsoft.com/office/drawing/2014/main" id="{455EB79A-EDF7-1A74-5AAA-41041924A2D1}"/>
              </a:ext>
            </a:extLst>
          </p:cNvPr>
          <p:cNvSpPr/>
          <p:nvPr/>
        </p:nvSpPr>
        <p:spPr>
          <a:xfrm>
            <a:off x="3447288" y="1329137"/>
            <a:ext cx="2560320" cy="1188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EBB7076-018E-B3CC-64EE-20913E3C1283}"/>
              </a:ext>
            </a:extLst>
          </p:cNvPr>
          <p:cNvSpPr txBox="1"/>
          <p:nvPr/>
        </p:nvSpPr>
        <p:spPr>
          <a:xfrm>
            <a:off x="3706368" y="1420577"/>
            <a:ext cx="2340864" cy="923330"/>
          </a:xfrm>
          <a:prstGeom prst="rect">
            <a:avLst/>
          </a:prstGeom>
          <a:noFill/>
        </p:spPr>
        <p:txBody>
          <a:bodyPr wrap="square">
            <a:spAutoFit/>
          </a:bodyPr>
          <a:lstStyle/>
          <a:p>
            <a:pPr>
              <a:defRPr sz="2100" b="1">
                <a:solidFill>
                  <a:srgbClr val="0096A6"/>
                </a:solidFill>
              </a:defRPr>
            </a:pPr>
            <a:r>
              <a:rPr sz="3200" dirty="0">
                <a:latin typeface="+mn-lt"/>
              </a:rPr>
              <a:t>0.8136</a:t>
            </a:r>
          </a:p>
          <a:p>
            <a:pPr>
              <a:defRPr sz="1000" b="1">
                <a:solidFill>
                  <a:srgbClr val="1E293B"/>
                </a:solidFill>
              </a:defRPr>
            </a:pPr>
            <a:r>
              <a:rPr sz="1200" dirty="0">
                <a:latin typeface="+mn-lt"/>
              </a:rPr>
              <a:t>MACRO-F1 SCORE</a:t>
            </a:r>
          </a:p>
          <a:p>
            <a:pPr>
              <a:defRPr sz="850">
                <a:solidFill>
                  <a:srgbClr val="64748B"/>
                </a:solidFill>
              </a:defRPr>
            </a:pPr>
            <a:r>
              <a:rPr sz="1050" dirty="0">
                <a:latin typeface="+mn-lt"/>
              </a:rPr>
              <a:t>Balanced across 18 classes</a:t>
            </a:r>
          </a:p>
        </p:txBody>
      </p:sp>
      <p:sp>
        <p:nvSpPr>
          <p:cNvPr id="10" name="Rounded Rectangle 8">
            <a:extLst>
              <a:ext uri="{FF2B5EF4-FFF2-40B4-BE49-F238E27FC236}">
                <a16:creationId xmlns:a16="http://schemas.microsoft.com/office/drawing/2014/main" id="{E54BD2D7-4556-7D51-D691-D366E71DD780}"/>
              </a:ext>
            </a:extLst>
          </p:cNvPr>
          <p:cNvSpPr/>
          <p:nvPr/>
        </p:nvSpPr>
        <p:spPr>
          <a:xfrm>
            <a:off x="6172200" y="1329137"/>
            <a:ext cx="2560320" cy="1188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98E5A7A-D768-6ED3-4E23-4C33EBFE5A40}"/>
              </a:ext>
            </a:extLst>
          </p:cNvPr>
          <p:cNvSpPr txBox="1"/>
          <p:nvPr/>
        </p:nvSpPr>
        <p:spPr>
          <a:xfrm>
            <a:off x="6431280" y="1420577"/>
            <a:ext cx="2340864" cy="923330"/>
          </a:xfrm>
          <a:prstGeom prst="rect">
            <a:avLst/>
          </a:prstGeom>
          <a:noFill/>
        </p:spPr>
        <p:txBody>
          <a:bodyPr wrap="square">
            <a:spAutoFit/>
          </a:bodyPr>
          <a:lstStyle/>
          <a:p>
            <a:pPr>
              <a:defRPr sz="2100" b="1">
                <a:solidFill>
                  <a:srgbClr val="0A2540"/>
                </a:solidFill>
              </a:defRPr>
            </a:pPr>
            <a:r>
              <a:rPr sz="3200" dirty="0">
                <a:latin typeface="+mn-lt"/>
              </a:rPr>
              <a:t>0.9940</a:t>
            </a:r>
          </a:p>
          <a:p>
            <a:pPr>
              <a:defRPr sz="1000" b="1">
                <a:solidFill>
                  <a:srgbClr val="1E293B"/>
                </a:solidFill>
              </a:defRPr>
            </a:pPr>
            <a:r>
              <a:rPr sz="1200" dirty="0">
                <a:latin typeface="+mn-lt"/>
              </a:rPr>
              <a:t>MACRO-AUC (</a:t>
            </a:r>
            <a:r>
              <a:rPr sz="1200" dirty="0" err="1">
                <a:latin typeface="+mn-lt"/>
              </a:rPr>
              <a:t>OvR</a:t>
            </a:r>
            <a:r>
              <a:rPr sz="1200" dirty="0">
                <a:latin typeface="+mn-lt"/>
              </a:rPr>
              <a:t>)</a:t>
            </a:r>
          </a:p>
          <a:p>
            <a:pPr>
              <a:defRPr sz="850">
                <a:solidFill>
                  <a:srgbClr val="64748B"/>
                </a:solidFill>
              </a:defRPr>
            </a:pPr>
            <a:r>
              <a:rPr sz="1050" dirty="0">
                <a:latin typeface="+mn-lt"/>
              </a:rPr>
              <a:t>Class discrimination</a:t>
            </a:r>
          </a:p>
        </p:txBody>
      </p:sp>
      <p:sp>
        <p:nvSpPr>
          <p:cNvPr id="12" name="TextBox 11">
            <a:extLst>
              <a:ext uri="{FF2B5EF4-FFF2-40B4-BE49-F238E27FC236}">
                <a16:creationId xmlns:a16="http://schemas.microsoft.com/office/drawing/2014/main" id="{9033782E-10AC-8C26-A9CB-CDDEFC53FA7D}"/>
              </a:ext>
            </a:extLst>
          </p:cNvPr>
          <p:cNvSpPr txBox="1"/>
          <p:nvPr/>
        </p:nvSpPr>
        <p:spPr>
          <a:xfrm>
            <a:off x="9156192" y="1420577"/>
            <a:ext cx="2340864" cy="923330"/>
          </a:xfrm>
          <a:prstGeom prst="rect">
            <a:avLst/>
          </a:prstGeom>
          <a:noFill/>
        </p:spPr>
        <p:txBody>
          <a:bodyPr wrap="square">
            <a:spAutoFit/>
          </a:bodyPr>
          <a:lstStyle/>
          <a:p>
            <a:pPr>
              <a:defRPr sz="2100" b="1">
                <a:solidFill>
                  <a:srgbClr val="10B981"/>
                </a:solidFill>
              </a:defRPr>
            </a:pPr>
            <a:r>
              <a:rPr sz="3200">
                <a:latin typeface="+mn-lt"/>
              </a:rPr>
              <a:t>91.02%</a:t>
            </a:r>
          </a:p>
          <a:p>
            <a:pPr>
              <a:defRPr sz="1000" b="1">
                <a:solidFill>
                  <a:srgbClr val="1E293B"/>
                </a:solidFill>
              </a:defRPr>
            </a:pPr>
            <a:r>
              <a:rPr sz="1200">
                <a:latin typeface="+mn-lt"/>
              </a:rPr>
              <a:t>5-FOLD CV ACCURACY</a:t>
            </a:r>
          </a:p>
          <a:p>
            <a:pPr>
              <a:defRPr sz="850">
                <a:solidFill>
                  <a:srgbClr val="64748B"/>
                </a:solidFill>
              </a:defRPr>
            </a:pPr>
            <a:r>
              <a:rPr sz="1050">
                <a:latin typeface="+mn-lt"/>
              </a:rPr>
              <a:t>± 0.52% across partitions</a:t>
            </a:r>
          </a:p>
        </p:txBody>
      </p:sp>
      <p:grpSp>
        <p:nvGrpSpPr>
          <p:cNvPr id="13" name="Group 12">
            <a:extLst>
              <a:ext uri="{FF2B5EF4-FFF2-40B4-BE49-F238E27FC236}">
                <a16:creationId xmlns:a16="http://schemas.microsoft.com/office/drawing/2014/main" id="{1ECED7EE-F99D-5AB8-50CF-0B8BB9A39DFA}"/>
              </a:ext>
            </a:extLst>
          </p:cNvPr>
          <p:cNvGrpSpPr/>
          <p:nvPr/>
        </p:nvGrpSpPr>
        <p:grpSpPr>
          <a:xfrm>
            <a:off x="2300003" y="2959577"/>
            <a:ext cx="7415209" cy="3001066"/>
            <a:chOff x="609599" y="2599712"/>
            <a:chExt cx="4845170" cy="3310023"/>
          </a:xfrm>
        </p:grpSpPr>
        <p:sp>
          <p:nvSpPr>
            <p:cNvPr id="14" name="TextBox 13">
              <a:extLst>
                <a:ext uri="{FF2B5EF4-FFF2-40B4-BE49-F238E27FC236}">
                  <a16:creationId xmlns:a16="http://schemas.microsoft.com/office/drawing/2014/main" id="{28D0E103-157E-DA97-EFDB-4164E257DB00}"/>
                </a:ext>
              </a:extLst>
            </p:cNvPr>
            <p:cNvSpPr txBox="1"/>
            <p:nvPr/>
          </p:nvSpPr>
          <p:spPr>
            <a:xfrm>
              <a:off x="1754779" y="2599712"/>
              <a:ext cx="2658372" cy="288542"/>
            </a:xfrm>
            <a:prstGeom prst="rect">
              <a:avLst/>
            </a:prstGeom>
            <a:noFill/>
          </p:spPr>
          <p:txBody>
            <a:bodyPr wrap="square">
              <a:spAutoFit/>
            </a:bodyPr>
            <a:lstStyle/>
            <a:p>
              <a:pPr>
                <a:defRPr sz="1100" b="1">
                  <a:solidFill>
                    <a:srgbClr val="0A2540"/>
                  </a:solidFill>
                </a:defRPr>
              </a:pPr>
              <a:r>
                <a:rPr dirty="0"/>
                <a:t>Performance Breakdown by Modality (7,261 Test Images)</a:t>
              </a:r>
            </a:p>
          </p:txBody>
        </p:sp>
        <p:graphicFrame>
          <p:nvGraphicFramePr>
            <p:cNvPr id="15" name="Chart">
              <a:extLst>
                <a:ext uri="{FF2B5EF4-FFF2-40B4-BE49-F238E27FC236}">
                  <a16:creationId xmlns:a16="http://schemas.microsoft.com/office/drawing/2014/main" id="{326D2128-0827-A887-5E8B-B8C9F90F9851}"/>
                </a:ext>
              </a:extLst>
            </p:cNvPr>
            <p:cNvGraphicFramePr/>
            <p:nvPr>
              <p:extLst>
                <p:ext uri="{D42A27DB-BD31-4B8C-83A1-F6EECF244321}">
                  <p14:modId xmlns:p14="http://schemas.microsoft.com/office/powerpoint/2010/main" val="558880039"/>
                </p:ext>
              </p:extLst>
            </p:nvPr>
          </p:nvGraphicFramePr>
          <p:xfrm>
            <a:off x="609599" y="2935842"/>
            <a:ext cx="4845170" cy="2973893"/>
          </p:xfrm>
          <a:graphic>
            <a:graphicData uri="http://schemas.openxmlformats.org/drawingml/2006/chart">
              <c:chart xmlns:c="http://schemas.openxmlformats.org/drawingml/2006/chart" xmlns:r="http://schemas.openxmlformats.org/officeDocument/2006/relationships" r:id="rId2"/>
            </a:graphicData>
          </a:graphic>
        </p:graphicFrame>
      </p:grpSp>
    </p:spTree>
    <p:extLst>
      <p:ext uri="{BB962C8B-B14F-4D97-AF65-F5344CB8AC3E}">
        <p14:creationId xmlns:p14="http://schemas.microsoft.com/office/powerpoint/2010/main" val="1659567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194800" y="6035675"/>
            <a:ext cx="2844800" cy="365125"/>
          </a:xfrm>
        </p:spPr>
        <p:txBody>
          <a:bodyPr/>
          <a:lstStyle/>
          <a:p>
            <a:pPr>
              <a:defRPr/>
            </a:pPr>
            <a:fld id="{4CD333A3-7515-47B8-9EDC-EE0892D9C861}" type="slidenum">
              <a:rPr lang="en-US" smtClean="0"/>
              <a:pPr>
                <a:defRPr/>
              </a:pPr>
              <a:t>13</a:t>
            </a:fld>
            <a:endParaRPr lang="en-US" dirty="0"/>
          </a:p>
        </p:txBody>
      </p:sp>
      <p:sp>
        <p:nvSpPr>
          <p:cNvPr id="5" name="Rounded Rectangle 4">
            <a:extLst>
              <a:ext uri="{FF2B5EF4-FFF2-40B4-BE49-F238E27FC236}">
                <a16:creationId xmlns:a16="http://schemas.microsoft.com/office/drawing/2014/main" id="{FB724729-E1BF-E68E-3A65-01B0A3A2DABA}"/>
              </a:ext>
            </a:extLst>
          </p:cNvPr>
          <p:cNvSpPr/>
          <p:nvPr/>
        </p:nvSpPr>
        <p:spPr>
          <a:xfrm>
            <a:off x="685800" y="1263557"/>
            <a:ext cx="10728655" cy="1022443"/>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387FBCD6-67A1-9726-3D4A-8F665933D173}"/>
              </a:ext>
            </a:extLst>
          </p:cNvPr>
          <p:cNvSpPr/>
          <p:nvPr/>
        </p:nvSpPr>
        <p:spPr>
          <a:xfrm>
            <a:off x="685800" y="1263557"/>
            <a:ext cx="164592" cy="1022443"/>
          </a:xfrm>
          <a:prstGeom prst="rect">
            <a:avLst/>
          </a:prstGeom>
          <a:solidFill>
            <a:srgbClr val="00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37D5922-4DF7-FD39-5FA7-810AE382ED37}"/>
              </a:ext>
            </a:extLst>
          </p:cNvPr>
          <p:cNvSpPr txBox="1"/>
          <p:nvPr/>
        </p:nvSpPr>
        <p:spPr>
          <a:xfrm>
            <a:off x="990600" y="1295400"/>
            <a:ext cx="10021824" cy="893578"/>
          </a:xfrm>
          <a:prstGeom prst="rect">
            <a:avLst/>
          </a:prstGeom>
          <a:noFill/>
        </p:spPr>
        <p:txBody>
          <a:bodyPr wrap="square">
            <a:spAutoFit/>
          </a:bodyPr>
          <a:lstStyle/>
          <a:p>
            <a:pPr>
              <a:lnSpc>
                <a:spcPct val="122000"/>
              </a:lnSpc>
              <a:defRPr sz="1350" b="1">
                <a:solidFill>
                  <a:srgbClr val="0A2540"/>
                </a:solidFill>
              </a:defRPr>
            </a:pPr>
            <a:r>
              <a:rPr lang="en-US" sz="1600" dirty="0"/>
              <a:t>Federated Multi-Modal Learning Framework</a:t>
            </a:r>
          </a:p>
          <a:p>
            <a:pPr>
              <a:lnSpc>
                <a:spcPct val="122000"/>
              </a:lnSpc>
              <a:defRPr sz="1300">
                <a:solidFill>
                  <a:srgbClr val="1E293B"/>
                </a:solidFill>
              </a:defRPr>
            </a:pPr>
            <a:r>
              <a:rPr lang="en-US" sz="1400" dirty="0" err="1"/>
              <a:t>FedMultiMed</a:t>
            </a:r>
            <a:r>
              <a:rPr lang="en-US" sz="1400" dirty="0"/>
              <a:t> combines brain MRI, chest X-ray, breast ultrasound, and </a:t>
            </a:r>
            <a:r>
              <a:rPr lang="en-US" sz="1400" dirty="0" err="1"/>
              <a:t>dermoscopy</a:t>
            </a:r>
            <a:r>
              <a:rPr lang="en-US" sz="1400" dirty="0"/>
              <a:t> within one 18-class federated learning framework using modality-partitioned non-IID clients.</a:t>
            </a:r>
          </a:p>
        </p:txBody>
      </p:sp>
      <p:sp>
        <p:nvSpPr>
          <p:cNvPr id="8" name="Rounded Rectangle 7">
            <a:extLst>
              <a:ext uri="{FF2B5EF4-FFF2-40B4-BE49-F238E27FC236}">
                <a16:creationId xmlns:a16="http://schemas.microsoft.com/office/drawing/2014/main" id="{270B0AD1-D8A5-7860-6928-07258995E15E}"/>
              </a:ext>
            </a:extLst>
          </p:cNvPr>
          <p:cNvSpPr/>
          <p:nvPr/>
        </p:nvSpPr>
        <p:spPr>
          <a:xfrm>
            <a:off x="685800" y="2438400"/>
            <a:ext cx="10728655" cy="99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10E61AAE-AC84-8E02-050D-E77C661803CE}"/>
              </a:ext>
            </a:extLst>
          </p:cNvPr>
          <p:cNvSpPr/>
          <p:nvPr/>
        </p:nvSpPr>
        <p:spPr>
          <a:xfrm>
            <a:off x="685800" y="2438400"/>
            <a:ext cx="164592" cy="990600"/>
          </a:xfrm>
          <a:prstGeom prst="rect">
            <a:avLst/>
          </a:prstGeom>
          <a:solidFill>
            <a:srgbClr val="009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C5D6213E-12BE-4571-D067-29CB8E5D635D}"/>
              </a:ext>
            </a:extLst>
          </p:cNvPr>
          <p:cNvSpPr txBox="1"/>
          <p:nvPr/>
        </p:nvSpPr>
        <p:spPr>
          <a:xfrm>
            <a:off x="990600" y="2514600"/>
            <a:ext cx="10454640" cy="769441"/>
          </a:xfrm>
          <a:prstGeom prst="rect">
            <a:avLst/>
          </a:prstGeom>
          <a:noFill/>
        </p:spPr>
        <p:txBody>
          <a:bodyPr wrap="square">
            <a:spAutoFit/>
          </a:bodyPr>
          <a:lstStyle/>
          <a:p>
            <a:r>
              <a:rPr lang="en-US" sz="1600" b="1" dirty="0"/>
              <a:t>Privacy-Conscious and Leakage-Controlled Design</a:t>
            </a:r>
            <a:endParaRPr lang="en-US" sz="1600" dirty="0"/>
          </a:p>
          <a:p>
            <a:r>
              <a:rPr lang="en-US" sz="1400" dirty="0"/>
              <a:t>Raw training images remain within their local clients, while only model parameters are shared. Lesion-grouped partitioning also prevents HAM10000 samples from leaking across data splits.</a:t>
            </a:r>
          </a:p>
        </p:txBody>
      </p:sp>
      <p:sp>
        <p:nvSpPr>
          <p:cNvPr id="11" name="Rounded Rectangle 4">
            <a:extLst>
              <a:ext uri="{FF2B5EF4-FFF2-40B4-BE49-F238E27FC236}">
                <a16:creationId xmlns:a16="http://schemas.microsoft.com/office/drawing/2014/main" id="{39ADFB26-9C62-4F8F-9FC3-3C9134DFCBB1}"/>
              </a:ext>
            </a:extLst>
          </p:cNvPr>
          <p:cNvSpPr/>
          <p:nvPr/>
        </p:nvSpPr>
        <p:spPr>
          <a:xfrm>
            <a:off x="685800" y="3581400"/>
            <a:ext cx="10728655" cy="104773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5B9DCA35-98B0-BF27-5BBD-409DAD1AC807}"/>
              </a:ext>
            </a:extLst>
          </p:cNvPr>
          <p:cNvSpPr/>
          <p:nvPr/>
        </p:nvSpPr>
        <p:spPr>
          <a:xfrm>
            <a:off x="685800" y="3581400"/>
            <a:ext cx="164592" cy="1047730"/>
          </a:xfrm>
          <a:prstGeom prst="rect">
            <a:avLst/>
          </a:prstGeom>
          <a:solidFill>
            <a:srgbClr val="00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A8E8765F-CADD-AF65-CD76-D259F854C900}"/>
              </a:ext>
            </a:extLst>
          </p:cNvPr>
          <p:cNvSpPr txBox="1"/>
          <p:nvPr/>
        </p:nvSpPr>
        <p:spPr>
          <a:xfrm>
            <a:off x="990600" y="3726359"/>
            <a:ext cx="10149840" cy="769441"/>
          </a:xfrm>
          <a:prstGeom prst="rect">
            <a:avLst/>
          </a:prstGeom>
          <a:noFill/>
        </p:spPr>
        <p:txBody>
          <a:bodyPr wrap="square">
            <a:spAutoFit/>
          </a:bodyPr>
          <a:lstStyle/>
          <a:p>
            <a:r>
              <a:rPr lang="en-US" sz="1600" b="1" dirty="0"/>
              <a:t>Architecture-Aware Hybrid Ensemble</a:t>
            </a:r>
            <a:endParaRPr lang="en-US" sz="1600" dirty="0"/>
          </a:p>
          <a:p>
            <a:r>
              <a:rPr lang="en-US" sz="1400" dirty="0"/>
              <a:t>Four aggregation methods are evaluated across different CNN backbones. The strongest strategy for each backbone is used to construct a calibrated soft-voting ensemble.</a:t>
            </a:r>
          </a:p>
        </p:txBody>
      </p:sp>
      <p:sp>
        <p:nvSpPr>
          <p:cNvPr id="14" name="Rounded Rectangle 7">
            <a:extLst>
              <a:ext uri="{FF2B5EF4-FFF2-40B4-BE49-F238E27FC236}">
                <a16:creationId xmlns:a16="http://schemas.microsoft.com/office/drawing/2014/main" id="{9012AEA9-E1EE-6766-6D0B-37A22EAC185E}"/>
              </a:ext>
            </a:extLst>
          </p:cNvPr>
          <p:cNvSpPr/>
          <p:nvPr/>
        </p:nvSpPr>
        <p:spPr>
          <a:xfrm>
            <a:off x="685800" y="4800600"/>
            <a:ext cx="10728655" cy="1018613"/>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D61DB85D-DA2C-04A5-803E-234C2D054766}"/>
              </a:ext>
            </a:extLst>
          </p:cNvPr>
          <p:cNvSpPr/>
          <p:nvPr/>
        </p:nvSpPr>
        <p:spPr>
          <a:xfrm>
            <a:off x="685800" y="4800600"/>
            <a:ext cx="164592" cy="1018613"/>
          </a:xfrm>
          <a:prstGeom prst="rect">
            <a:avLst/>
          </a:prstGeom>
          <a:solidFill>
            <a:srgbClr val="009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7703191-5ED9-BB46-A591-CA385EE0F76A}"/>
              </a:ext>
            </a:extLst>
          </p:cNvPr>
          <p:cNvSpPr txBox="1"/>
          <p:nvPr/>
        </p:nvSpPr>
        <p:spPr>
          <a:xfrm>
            <a:off x="975360" y="4900136"/>
            <a:ext cx="10302240" cy="738664"/>
          </a:xfrm>
          <a:prstGeom prst="rect">
            <a:avLst/>
          </a:prstGeom>
          <a:noFill/>
        </p:spPr>
        <p:txBody>
          <a:bodyPr wrap="square">
            <a:spAutoFit/>
          </a:bodyPr>
          <a:lstStyle/>
          <a:p>
            <a:r>
              <a:rPr lang="en-US" sz="1400" b="1" dirty="0"/>
              <a:t>Quantitatively Evaluated Explainability</a:t>
            </a:r>
            <a:endParaRPr lang="en-US" sz="1400" dirty="0"/>
          </a:p>
          <a:p>
            <a:r>
              <a:rPr lang="en-US" sz="1400" dirty="0"/>
              <a:t>Grad-CAM, Grad-CAM++, Integrated Gradients, and LIME are evaluated through faithfulness, </a:t>
            </a:r>
            <a:r>
              <a:rPr lang="en-US" sz="1400" dirty="0" err="1"/>
              <a:t>localisation</a:t>
            </a:r>
            <a:r>
              <a:rPr lang="en-US" sz="1400" dirty="0"/>
              <a:t>, and sensitivity analysis, providing evidence beyond visual heatmaps.</a:t>
            </a:r>
          </a:p>
        </p:txBody>
      </p:sp>
    </p:spTree>
    <p:extLst>
      <p:ext uri="{BB962C8B-B14F-4D97-AF65-F5344CB8AC3E}">
        <p14:creationId xmlns:p14="http://schemas.microsoft.com/office/powerpoint/2010/main" val="920274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194800" y="6019800"/>
            <a:ext cx="2844800" cy="365125"/>
          </a:xfrm>
        </p:spPr>
        <p:txBody>
          <a:bodyPr/>
          <a:lstStyle/>
          <a:p>
            <a:pPr>
              <a:defRPr/>
            </a:pPr>
            <a:fld id="{4CD333A3-7515-47B8-9EDC-EE0892D9C861}" type="slidenum">
              <a:rPr lang="en-US" smtClean="0"/>
              <a:pPr>
                <a:defRPr/>
              </a:pPr>
              <a:t>14</a:t>
            </a:fld>
            <a:endParaRPr lang="en-US" dirty="0"/>
          </a:p>
        </p:txBody>
      </p:sp>
      <p:sp>
        <p:nvSpPr>
          <p:cNvPr id="7" name="Content Placeholder 6">
            <a:extLst>
              <a:ext uri="{FF2B5EF4-FFF2-40B4-BE49-F238E27FC236}">
                <a16:creationId xmlns:a16="http://schemas.microsoft.com/office/drawing/2014/main" id="{992BBE58-5773-519B-E1E9-B8EB379C0A97}"/>
              </a:ext>
            </a:extLst>
          </p:cNvPr>
          <p:cNvSpPr>
            <a:spLocks noGrp="1"/>
          </p:cNvSpPr>
          <p:nvPr>
            <p:ph sz="quarter" idx="13"/>
          </p:nvPr>
        </p:nvSpPr>
        <p:spPr>
          <a:xfrm>
            <a:off x="990600" y="1524000"/>
            <a:ext cx="7010400" cy="3962400"/>
          </a:xfrm>
        </p:spPr>
        <p:txBody>
          <a:bodyPr>
            <a:normAutofit/>
          </a:bodyPr>
          <a:lstStyle/>
          <a:p>
            <a:pPr marL="0" indent="0" algn="just">
              <a:buNone/>
            </a:pPr>
            <a:r>
              <a:rPr lang="en-US" sz="1800">
                <a:solidFill>
                  <a:srgbClr val="202020"/>
                </a:solidFill>
                <a:ea typeface="Arial"/>
                <a:cs typeface="Arial"/>
              </a:rPr>
              <a:t>FedMultiMed demonstrates that federated learning, complementary CNN backbones, and explainable AI can be integrated into one multi-modal medical-image classification framework without transferring raw training images. The calibrated hybrid ensemble achieved 90.80% accuracy, 0.8136 macro F1, and 0.9940 macro AUC on 7,261 held-out images, while five-fold subject-grouped validation reached 91.02 ± 0.52% accuracy. The results are strong across MRI, X-ray, and ultrasound, although minority dermoscopy classes remain difficult. Therefore, the framework is suitable as a research decision-support system, but further external clinical validation and stronger privacy mechanisms are needed before real-world deployment.</a:t>
            </a:r>
            <a:endParaRPr lang="en-US" sz="1800"/>
          </a:p>
          <a:p>
            <a:pPr algn="just"/>
            <a:endParaRPr lang="en-US" sz="3600" dirty="0"/>
          </a:p>
        </p:txBody>
      </p:sp>
      <p:pic>
        <p:nvPicPr>
          <p:cNvPr id="8" name="Picture 7" descr="A blue shield with a green check mark and a blue shield with colorful balls&#10;&#10;Description automatically generated">
            <a:extLst>
              <a:ext uri="{FF2B5EF4-FFF2-40B4-BE49-F238E27FC236}">
                <a16:creationId xmlns:a16="http://schemas.microsoft.com/office/drawing/2014/main" id="{5330E7AB-7CF9-B7F1-9BF6-476BCFBAF9A7}"/>
              </a:ext>
            </a:extLst>
          </p:cNvPr>
          <p:cNvPicPr>
            <a:picLocks noChangeAspect="1"/>
          </p:cNvPicPr>
          <p:nvPr/>
        </p:nvPicPr>
        <p:blipFill>
          <a:blip r:embed="rId2"/>
          <a:stretch>
            <a:fillRect/>
          </a:stretch>
        </p:blipFill>
        <p:spPr>
          <a:xfrm>
            <a:off x="8077200" y="1230868"/>
            <a:ext cx="3276600" cy="3276600"/>
          </a:xfrm>
          <a:prstGeom prst="rect">
            <a:avLst/>
          </a:prstGeom>
        </p:spPr>
      </p:pic>
    </p:spTree>
    <p:extLst>
      <p:ext uri="{BB962C8B-B14F-4D97-AF65-F5344CB8AC3E}">
        <p14:creationId xmlns:p14="http://schemas.microsoft.com/office/powerpoint/2010/main" val="2873705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a:xfrm>
            <a:off x="9118600" y="6019800"/>
            <a:ext cx="2844800" cy="365125"/>
          </a:xfrm>
        </p:spPr>
        <p:txBody>
          <a:bodyPr/>
          <a:lstStyle/>
          <a:p>
            <a:pPr>
              <a:defRPr/>
            </a:pPr>
            <a:fld id="{4CD333A3-7515-47B8-9EDC-EE0892D9C861}" type="slidenum">
              <a:rPr lang="en-US" smtClean="0"/>
              <a:pPr>
                <a:defRPr/>
              </a:pPr>
              <a:t>15</a:t>
            </a:fld>
            <a:endParaRPr lang="en-US" dirty="0"/>
          </a:p>
        </p:txBody>
      </p:sp>
      <p:sp>
        <p:nvSpPr>
          <p:cNvPr id="5" name="Content Placeholder 5">
            <a:extLst>
              <a:ext uri="{FF2B5EF4-FFF2-40B4-BE49-F238E27FC236}">
                <a16:creationId xmlns:a16="http://schemas.microsoft.com/office/drawing/2014/main" id="{5BCCD36A-4367-7868-1153-33295A62D32F}"/>
              </a:ext>
            </a:extLst>
          </p:cNvPr>
          <p:cNvSpPr>
            <a:spLocks noGrp="1"/>
          </p:cNvSpPr>
          <p:nvPr>
            <p:ph sz="quarter" idx="13"/>
          </p:nvPr>
        </p:nvSpPr>
        <p:spPr>
          <a:xfrm>
            <a:off x="609600" y="1447800"/>
            <a:ext cx="11125200" cy="3962400"/>
          </a:xfrm>
        </p:spPr>
        <p:txBody>
          <a:bodyPr>
            <a:normAutofit fontScale="92500"/>
          </a:bodyPr>
          <a:lstStyle/>
          <a:p>
            <a:pPr algn="just">
              <a:lnSpc>
                <a:spcPct val="104000"/>
              </a:lnSpc>
              <a:spcAft>
                <a:spcPts val="800"/>
              </a:spcAft>
              <a:buNone/>
              <a:defRPr sz="1125">
                <a:solidFill>
                  <a:srgbClr val="202020"/>
                </a:solidFill>
                <a:latin typeface="Arial"/>
                <a:ea typeface="Arial"/>
                <a:cs typeface="Arial"/>
              </a:defRPr>
            </a:pPr>
            <a:r>
              <a:rPr lang="en-US" sz="1600" dirty="0">
                <a:solidFill>
                  <a:schemeClr val="tx1"/>
                </a:solidFill>
              </a:rPr>
              <a:t>[</a:t>
            </a:r>
            <a:r>
              <a:rPr lang="en-US" sz="1500" dirty="0">
                <a:solidFill>
                  <a:schemeClr val="tx1"/>
                </a:solidFill>
              </a:rPr>
              <a:t>1] R. Haripriya, N. Khare, and M. Pandey, “Privacy-preserving federated learning for collaborative medical data mining in multi-institutional settings,” Scientific Reports, vol. 15, no. 1, Apr. 2025, </a:t>
            </a:r>
            <a:r>
              <a:rPr lang="en-US" sz="1500" dirty="0" err="1">
                <a:solidFill>
                  <a:schemeClr val="tx1"/>
                </a:solidFill>
              </a:rPr>
              <a:t>doi</a:t>
            </a:r>
            <a:r>
              <a:rPr lang="en-US" sz="1500" dirty="0">
                <a:solidFill>
                  <a:schemeClr val="tx1"/>
                </a:solidFill>
              </a:rPr>
              <a:t>: 10.1038/s41598-025-97565-4.</a:t>
            </a:r>
          </a:p>
          <a:p>
            <a:pPr algn="just">
              <a:lnSpc>
                <a:spcPct val="104000"/>
              </a:lnSpc>
              <a:spcAft>
                <a:spcPts val="800"/>
              </a:spcAft>
              <a:buNone/>
              <a:defRPr sz="1125">
                <a:solidFill>
                  <a:srgbClr val="202020"/>
                </a:solidFill>
                <a:latin typeface="Arial"/>
                <a:ea typeface="Arial"/>
                <a:cs typeface="Arial"/>
              </a:defRPr>
            </a:pPr>
            <a:r>
              <a:rPr lang="en-US" sz="1500" dirty="0">
                <a:solidFill>
                  <a:schemeClr val="tx1"/>
                </a:solidFill>
              </a:rPr>
              <a:t>[2] M. Z. </a:t>
            </a:r>
            <a:r>
              <a:rPr lang="en-US" sz="1500" dirty="0" err="1">
                <a:solidFill>
                  <a:schemeClr val="tx1"/>
                </a:solidFill>
              </a:rPr>
              <a:t>Muntaqim</a:t>
            </a:r>
            <a:r>
              <a:rPr lang="en-US" sz="1500" dirty="0">
                <a:solidFill>
                  <a:schemeClr val="tx1"/>
                </a:solidFill>
              </a:rPr>
              <a:t> and T. A. </a:t>
            </a:r>
            <a:r>
              <a:rPr lang="en-US" sz="1500" dirty="0" err="1">
                <a:solidFill>
                  <a:schemeClr val="tx1"/>
                </a:solidFill>
              </a:rPr>
              <a:t>Smrity</a:t>
            </a:r>
            <a:r>
              <a:rPr lang="en-US" sz="1500" dirty="0">
                <a:solidFill>
                  <a:schemeClr val="tx1"/>
                </a:solidFill>
              </a:rPr>
              <a:t>, “Federated Learning Framework for Brain Tumor Detection Using MRI Images in Non-IID Data Distributions,” Journal of Imaging Informatics in Medicine, vol. 38, no. 6, pp. 3909–3927, 2025, </a:t>
            </a:r>
            <a:r>
              <a:rPr lang="en-US" sz="1500" dirty="0" err="1">
                <a:solidFill>
                  <a:schemeClr val="tx1"/>
                </a:solidFill>
              </a:rPr>
              <a:t>doi</a:t>
            </a:r>
            <a:r>
              <a:rPr lang="en-US" sz="1500" dirty="0">
                <a:solidFill>
                  <a:schemeClr val="tx1"/>
                </a:solidFill>
              </a:rPr>
              <a:t>: 10.1007/s10278-025-01484-9.</a:t>
            </a:r>
          </a:p>
          <a:p>
            <a:pPr algn="just">
              <a:lnSpc>
                <a:spcPct val="104000"/>
              </a:lnSpc>
              <a:spcAft>
                <a:spcPts val="800"/>
              </a:spcAft>
              <a:buNone/>
              <a:defRPr sz="1125">
                <a:solidFill>
                  <a:srgbClr val="202020"/>
                </a:solidFill>
                <a:latin typeface="Arial"/>
                <a:ea typeface="Arial"/>
                <a:cs typeface="Arial"/>
              </a:defRPr>
            </a:pPr>
            <a:r>
              <a:rPr lang="en-US" sz="1500" dirty="0">
                <a:solidFill>
                  <a:schemeClr val="tx1"/>
                </a:solidFill>
              </a:rPr>
              <a:t>[3] K. </a:t>
            </a:r>
            <a:r>
              <a:rPr lang="en-US" sz="1500" dirty="0" err="1">
                <a:solidFill>
                  <a:schemeClr val="tx1"/>
                </a:solidFill>
              </a:rPr>
              <a:t>Borazjani</a:t>
            </a:r>
            <a:r>
              <a:rPr lang="en-US" sz="1500" dirty="0">
                <a:solidFill>
                  <a:schemeClr val="tx1"/>
                </a:solidFill>
              </a:rPr>
              <a:t>, N. </a:t>
            </a:r>
            <a:r>
              <a:rPr lang="en-US" sz="1500" dirty="0" err="1">
                <a:solidFill>
                  <a:schemeClr val="tx1"/>
                </a:solidFill>
              </a:rPr>
              <a:t>Khosravan</a:t>
            </a:r>
            <a:r>
              <a:rPr lang="en-US" sz="1500" dirty="0">
                <a:solidFill>
                  <a:schemeClr val="tx1"/>
                </a:solidFill>
              </a:rPr>
              <a:t>, L. Ying, and S. </a:t>
            </a:r>
            <a:r>
              <a:rPr lang="en-US" sz="1500" dirty="0" err="1">
                <a:solidFill>
                  <a:schemeClr val="tx1"/>
                </a:solidFill>
              </a:rPr>
              <a:t>Hosseinalipour</a:t>
            </a:r>
            <a:r>
              <a:rPr lang="en-US" sz="1500" dirty="0">
                <a:solidFill>
                  <a:schemeClr val="tx1"/>
                </a:solidFill>
              </a:rPr>
              <a:t>, “Multi-Modal Federated Learning for Cancer Staging Over Non-IID Datasets With Unbalanced Modalities,” IEEE Transactions on Medical Imaging, vol. 44, no. 1, pp. 556–573, Jan. 2025, </a:t>
            </a:r>
            <a:r>
              <a:rPr lang="en-US" sz="1500" dirty="0" err="1">
                <a:solidFill>
                  <a:schemeClr val="tx1"/>
                </a:solidFill>
              </a:rPr>
              <a:t>doi</a:t>
            </a:r>
            <a:r>
              <a:rPr lang="en-US" sz="1500" dirty="0">
                <a:solidFill>
                  <a:schemeClr val="tx1"/>
                </a:solidFill>
              </a:rPr>
              <a:t>: 10.1109/tmi.2024.3450855.</a:t>
            </a:r>
          </a:p>
          <a:p>
            <a:pPr algn="just">
              <a:lnSpc>
                <a:spcPct val="104000"/>
              </a:lnSpc>
              <a:spcAft>
                <a:spcPts val="800"/>
              </a:spcAft>
              <a:buNone/>
              <a:defRPr sz="1125">
                <a:solidFill>
                  <a:srgbClr val="202020"/>
                </a:solidFill>
                <a:latin typeface="Arial"/>
                <a:ea typeface="Arial"/>
                <a:cs typeface="Arial"/>
              </a:defRPr>
            </a:pPr>
            <a:r>
              <a:rPr lang="en-US" sz="1500" dirty="0">
                <a:solidFill>
                  <a:schemeClr val="tx1"/>
                </a:solidFill>
              </a:rPr>
              <a:t>[4] S. Fan, A. Ahmed, X. Zeng, R. Xi, and M. Hou, “A Personalized Multimodal Federated Learning Framework for Skin Cancer Diagnosis,” Electronics, vol. 14, no. 14, pp. 2880–2880, July 2025, </a:t>
            </a:r>
            <a:r>
              <a:rPr lang="en-US" sz="1500" dirty="0" err="1">
                <a:solidFill>
                  <a:schemeClr val="tx1"/>
                </a:solidFill>
              </a:rPr>
              <a:t>doi</a:t>
            </a:r>
            <a:r>
              <a:rPr lang="en-US" sz="1500" dirty="0">
                <a:solidFill>
                  <a:schemeClr val="tx1"/>
                </a:solidFill>
              </a:rPr>
              <a:t>: 10.3390/electronics14142880.</a:t>
            </a:r>
          </a:p>
          <a:p>
            <a:pPr algn="just">
              <a:lnSpc>
                <a:spcPct val="104000"/>
              </a:lnSpc>
              <a:spcAft>
                <a:spcPts val="800"/>
              </a:spcAft>
              <a:buNone/>
              <a:defRPr sz="1125">
                <a:solidFill>
                  <a:srgbClr val="202020"/>
                </a:solidFill>
                <a:latin typeface="Arial"/>
                <a:ea typeface="Arial"/>
                <a:cs typeface="Arial"/>
              </a:defRPr>
            </a:pPr>
            <a:r>
              <a:rPr lang="en-US" sz="1500" dirty="0">
                <a:solidFill>
                  <a:schemeClr val="tx1"/>
                </a:solidFill>
              </a:rPr>
              <a:t>[5] C. Gupta, N. S. Gill, P. </a:t>
            </a:r>
            <a:r>
              <a:rPr lang="en-US" sz="1500" dirty="0" err="1">
                <a:solidFill>
                  <a:schemeClr val="tx1"/>
                </a:solidFill>
              </a:rPr>
              <a:t>Gulia</a:t>
            </a:r>
            <a:r>
              <a:rPr lang="en-US" sz="1500" dirty="0">
                <a:solidFill>
                  <a:schemeClr val="tx1"/>
                </a:solidFill>
              </a:rPr>
              <a:t>, N. </a:t>
            </a:r>
            <a:r>
              <a:rPr lang="en-US" sz="1500" dirty="0" err="1">
                <a:solidFill>
                  <a:schemeClr val="tx1"/>
                </a:solidFill>
              </a:rPr>
              <a:t>Alduaiji</a:t>
            </a:r>
            <a:r>
              <a:rPr lang="en-US" sz="1500" dirty="0">
                <a:solidFill>
                  <a:schemeClr val="tx1"/>
                </a:solidFill>
              </a:rPr>
              <a:t>, J. Shreyas, and P. K. Shukla, “Applying YOLOv6 as an ensemble federated learning framework to classify breast cancer pathology images,” Scientific Reports, vol. 15, no. 1, Jan. 2025, </a:t>
            </a:r>
            <a:r>
              <a:rPr lang="en-US" sz="1500" dirty="0" err="1">
                <a:solidFill>
                  <a:schemeClr val="tx1"/>
                </a:solidFill>
              </a:rPr>
              <a:t>doi</a:t>
            </a:r>
            <a:r>
              <a:rPr lang="en-US" sz="1500" dirty="0">
                <a:solidFill>
                  <a:schemeClr val="tx1"/>
                </a:solidFill>
              </a:rPr>
              <a:t>: 10.1038/s41598-024-80187-7.</a:t>
            </a:r>
          </a:p>
          <a:p>
            <a:pPr algn="just">
              <a:lnSpc>
                <a:spcPct val="104000"/>
              </a:lnSpc>
              <a:spcAft>
                <a:spcPts val="10"/>
              </a:spcAft>
              <a:buNone/>
              <a:defRPr sz="1125">
                <a:solidFill>
                  <a:srgbClr val="202020"/>
                </a:solidFill>
                <a:latin typeface="Arial"/>
                <a:ea typeface="Arial"/>
                <a:cs typeface="Arial"/>
              </a:defRPr>
            </a:pPr>
            <a:r>
              <a:rPr lang="en-US" sz="1500" dirty="0">
                <a:solidFill>
                  <a:schemeClr val="tx1"/>
                </a:solidFill>
              </a:rPr>
              <a:t>[6] K. Pervez, S. I. Sohail, F. </a:t>
            </a:r>
            <a:r>
              <a:rPr lang="en-US" sz="1500" dirty="0" err="1">
                <a:solidFill>
                  <a:schemeClr val="tx1"/>
                </a:solidFill>
              </a:rPr>
              <a:t>Parwez</a:t>
            </a:r>
            <a:r>
              <a:rPr lang="en-US" sz="1500" dirty="0">
                <a:solidFill>
                  <a:schemeClr val="tx1"/>
                </a:solidFill>
              </a:rPr>
              <a:t>, and M. A. Zia, “Towards trustworthy AI-driven leukemia diagnosis: A hybrid Hierarchical Federated Learning and explainable AI framework,” Informatics in Medicine Unlocked, p. 101618, Jan. 2025, </a:t>
            </a:r>
            <a:r>
              <a:rPr lang="en-US" sz="1500" dirty="0" err="1">
                <a:solidFill>
                  <a:schemeClr val="tx1"/>
                </a:solidFill>
              </a:rPr>
              <a:t>doi</a:t>
            </a:r>
            <a:r>
              <a:rPr lang="en-US" sz="1500" dirty="0">
                <a:solidFill>
                  <a:schemeClr val="tx1"/>
                </a:solidFill>
              </a:rPr>
              <a:t>: 10.1016/j.imu.2025.101618.</a:t>
            </a:r>
          </a:p>
          <a:p>
            <a:pPr marL="0" indent="0">
              <a:buNone/>
            </a:pPr>
            <a:endParaRPr lang="en-US" dirty="0"/>
          </a:p>
        </p:txBody>
      </p:sp>
    </p:spTree>
    <p:extLst>
      <p:ext uri="{BB962C8B-B14F-4D97-AF65-F5344CB8AC3E}">
        <p14:creationId xmlns:p14="http://schemas.microsoft.com/office/powerpoint/2010/main" val="190546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118600" y="6019800"/>
            <a:ext cx="2844800" cy="365125"/>
          </a:xfrm>
        </p:spPr>
        <p:txBody>
          <a:bodyPr/>
          <a:lstStyle/>
          <a:p>
            <a:pPr>
              <a:defRPr/>
            </a:pPr>
            <a:fld id="{4CD333A3-7515-47B8-9EDC-EE0892D9C861}" type="slidenum">
              <a:rPr lang="en-US" smtClean="0"/>
              <a:pPr>
                <a:defRPr/>
              </a:pPr>
              <a:t>16</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905</TotalTime>
  <Words>1704</Words>
  <Application>Microsoft Office PowerPoint</Application>
  <PresentationFormat>Widescreen</PresentationFormat>
  <Paragraphs>276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New Microsoft PowerPoint Presentation</vt:lpstr>
      <vt:lpstr>FedMultiMed: A Federated Multi-Modal Ensemble Framework  for Medical Image Classification with Explainable AI</vt:lpstr>
      <vt:lpstr>Outline</vt:lpstr>
      <vt:lpstr>Introduction</vt:lpstr>
      <vt:lpstr>Objective</vt:lpstr>
      <vt:lpstr>Background Study</vt:lpstr>
      <vt:lpstr>Gap Analysis</vt:lpstr>
      <vt:lpstr>PowerPoint Presentation</vt:lpstr>
      <vt:lpstr>Sample dataset</vt:lpstr>
      <vt:lpstr>Result and Analysis</vt:lpstr>
      <vt:lpstr>Result and Analysis</vt:lpstr>
      <vt:lpstr>Result and Analysis</vt:lpstr>
      <vt:lpstr>Result and Analysis</vt:lpstr>
      <vt:lpstr>Novelty of the Work</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joy mojumder</cp:lastModifiedBy>
  <cp:revision>261</cp:revision>
  <dcterms:created xsi:type="dcterms:W3CDTF">2011-07-17T02:56:35Z</dcterms:created>
  <dcterms:modified xsi:type="dcterms:W3CDTF">2026-09-08T10:35:23Z</dcterms:modified>
</cp:coreProperties>
</file>